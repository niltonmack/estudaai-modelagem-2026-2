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89" r:id="rId21"/>
    <p:sldId id="282" r:id="rId22"/>
    <p:sldId id="283" r:id="rId23"/>
    <p:sldId id="284" r:id="rId24"/>
    <p:sldId id="285" r:id="rId25"/>
    <p:sldId id="286" r:id="rId26"/>
    <p:sldId id="287" r:id="rId27"/>
    <p:sldId id="288" r:id="rId28"/>
    <p:sldId id="275" r:id="rId29"/>
    <p:sldId id="276" r:id="rId30"/>
    <p:sldId id="277" r:id="rId31"/>
    <p:sldId id="278" r:id="rId32"/>
    <p:sldId id="279" r:id="rId33"/>
    <p:sldId id="280" r:id="rId34"/>
    <p:sldId id="281" r:id="rId3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30" autoAdjust="0"/>
    <p:restoredTop sz="94610"/>
  </p:normalViewPr>
  <p:slideViewPr>
    <p:cSldViewPr snapToGrid="0" snapToObjects="1">
      <p:cViewPr varScale="1">
        <p:scale>
          <a:sx n="79" d="100"/>
          <a:sy n="79" d="100"/>
        </p:scale>
        <p:origin x="54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0332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Base visual: Modelagem-Software-Semana06.pptx.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Slides originais: Modelagem-Software-Semana06.pptx, especialmente slides 2 a 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README EstudaAI: docs e stack do projeto.
Visão do produto: duas formas de utilização.
Casos de uso UC01 e UC02.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Prompt SDD proposto na conversa: Modelagem -&gt; Mapa de Specs -&gt; Spec aprovada -&gt; Implementação.
Modelo conceitual, RF, RNF, RB e ADRs do EstudaAI.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Requisitos e regras do EstudaAI em EARS.
Drivers arquiteturais do EstudaAI: decisões, restrições e cenários.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Fluxo didático definido na conversa anterior.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README do EstudaAI: lista dos documentos de modelagem.
Drivers arquiteturais: fontes e critério de seleção.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Prompt SDD: seção de objetivo e regras de decomposição.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Requisitos funcionais do EstudaAI.
UC01 e UC02.
ADRs do EstudaAI.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Prompt SDD: estrutura da Spec individual.
Drivers e ADRs do EstudaAI: decisões em aberto.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RF07, RB05, RB06 e UC01 do EstudaAI.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Drivers arquiteturais do EstudaAI: recorte do que os drivers não decidem.
ADRs: decisões deliberadamente não registradas.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Fluxo didático sugerido na conversa.
Prompt SDD: regra fundamental.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Tutorial de hooks: instrução não é garantia; hook executa fora do modelo.
PPT de hooks: problema concreto de ações perigosas.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Tutorial de hooks, seção 2: instrução não é garantia.
Tutorial de hooks, seção 11: VS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Tutorial de hooks, seção 3: ciclo completo.
PPT de hooks, slides de definição e ciclo de vida.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Tutorial de hooks, seção 7: matriz de decisão.
PPT de hooks, slides de vereditos e faixas.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Tutorial de hooks, seção 11: VS Code, caminhos A, B e C.
Tutorial de hooks, seção 11.4: resumo por 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Tutorial de hooks, seção 16: defesa em camadas.
PPT de hooks, slide Defesa em camadas.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A46875-187C-9EFC-B221-633B6A15F4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FAF7AC-6BDA-A44F-C63E-8CD7A4BA8A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598E33-6A19-F830-6111-4FABB460EF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Base visual: Modelagem-Software-Semana06.pptx.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E114E1-4A57-A1F0-7DD5-F90B83FD9D7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037874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Todos os materiais anexos: aula 6, tutorial de hooks e PPT de hooks.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Prompt SDD e materiais de hooks.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README do EstudaAI: lista de artefatos.
Tutorial de hooks: VS Code e defesa em camadas.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PDF gerado: Prompt_SDD_Specs.pdf.
Prompt SDD da conversa anterior.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Prompt SDD: revisão humana do mapa e geração de uma Spec por vez.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Prompt SDD: regra fundamental.
Tutorial de hooks: segurança e defesa em camadas.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Material de hooks: checklist de entrega adaptado para o laboratório de SDD.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HIT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Prompt_SDD_Specs.pdf" TargetMode="Externa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hyperlink" Target="file:///C:\Users\nilton\Desktop\DocMACK\MATERIAL\02_MS\2026-2\aulas\Prompt_SDD_Specs.pdf" TargetMode="Externa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688775" y="6556248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650" dirty="0"/>
          </a:p>
        </p:txBody>
      </p:sp>
      <p:sp>
        <p:nvSpPr>
          <p:cNvPr id="3" name="Text 1"/>
          <p:cNvSpPr/>
          <p:nvPr/>
        </p:nvSpPr>
        <p:spPr>
          <a:xfrm>
            <a:off x="0" y="2674620"/>
            <a:ext cx="1219169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D15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MODELAGEM DE SOFTWARE - SEMANA 6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0" y="2999232"/>
            <a:ext cx="121916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F2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Spec-Driven Development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0" y="3566160"/>
            <a:ext cx="121916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5B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Modelagem, especificação, governança de agentes e laboratório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688775" y="6556248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650" dirty="0"/>
          </a:p>
        </p:txBody>
      </p:sp>
      <p:sp>
        <p:nvSpPr>
          <p:cNvPr id="3" name="Text 1"/>
          <p:cNvSpPr/>
          <p:nvPr/>
        </p:nvSpPr>
        <p:spPr>
          <a:xfrm>
            <a:off x="640080" y="48463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D15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SEMANA 6 · OBJETIVOS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640080" y="804672"/>
            <a:ext cx="768096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F2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será reorganizado nesta aula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1261872"/>
            <a:ext cx="8961120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400" i="1" dirty="0" err="1">
                <a:solidFill>
                  <a:srgbClr val="5B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fundamentos</a:t>
            </a:r>
            <a:r>
              <a:rPr lang="en-US" sz="1400" i="1" dirty="0">
                <a:solidFill>
                  <a:srgbClr val="5B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conceituais, segurança de uso e prática orientada por Specs</a:t>
            </a:r>
            <a:r>
              <a:rPr lang="en-US" sz="950" i="1" dirty="0">
                <a:solidFill>
                  <a:srgbClr val="5B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3383280" cy="1915886"/>
          </a:xfrm>
          <a:prstGeom prst="rect">
            <a:avLst/>
          </a:prstGeom>
          <a:solidFill>
            <a:srgbClr val="F2F4F7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87313">
              <a:buNone/>
            </a:pPr>
            <a:r>
              <a:rPr lang="en-US" sz="1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Aula teórica
</a:t>
            </a: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Conceitos de SDD, papel da baseline de modelagem e </a:t>
            </a:r>
            <a:r>
              <a:rPr lang="en-US" sz="1600" dirty="0" err="1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fluxo</a:t>
            </a: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 trabalho.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389120" y="1828800"/>
            <a:ext cx="3383280" cy="1915886"/>
          </a:xfrm>
          <a:prstGeom prst="rect">
            <a:avLst/>
          </a:prstGeom>
          <a:solidFill>
            <a:srgbClr val="F2F4F7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182563">
              <a:buNone/>
            </a:pPr>
            <a:r>
              <a:rPr lang="en-US" sz="1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Segurança de uso
</a:t>
            </a: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Instruções, hooks, limitações do VS Code e defesa em camadas.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138160" y="1828800"/>
            <a:ext cx="3383280" cy="1915886"/>
          </a:xfrm>
          <a:prstGeom prst="rect">
            <a:avLst/>
          </a:prstGeom>
          <a:solidFill>
            <a:srgbClr val="F2F4F7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182563">
              <a:buNone/>
            </a:pPr>
            <a:r>
              <a:rPr lang="en-US" sz="1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Laboratório
</a:t>
            </a: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Geração do mapa de Specs, revisão humana e implementação controlada</a:t>
            </a:r>
            <a:r>
              <a:rPr lang="en-US" sz="14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688775" y="6556248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650" dirty="0"/>
          </a:p>
        </p:txBody>
      </p:sp>
      <p:sp>
        <p:nvSpPr>
          <p:cNvPr id="3" name="Text 1"/>
          <p:cNvSpPr/>
          <p:nvPr/>
        </p:nvSpPr>
        <p:spPr>
          <a:xfrm>
            <a:off x="640080" y="48463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D15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FIO CONDUTOR · ESTUDAAI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640080" y="804672"/>
            <a:ext cx="768096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F2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Projeto usado como exemplo de baseline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79" y="1417320"/>
            <a:ext cx="8451669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EstudaAI é uma aplicação web para recomendação de trilhas de aprendizagem. O produto trabalha com trilhas pré-definidas, curadas por especialistas, e trilhas personalizadas com apoio de LLM.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40080" y="2606040"/>
            <a:ext cx="2377440" cy="1161288"/>
          </a:xfrm>
          <a:prstGeom prst="rect">
            <a:avLst/>
          </a:prstGeom>
          <a:solidFill>
            <a:srgbClr val="F2F4F7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87313">
              <a:buNone/>
            </a:pPr>
            <a:r>
              <a:rPr lang="en-US" sz="1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Aluno
</a:t>
            </a: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Escolhe, cria ou acompanha trilhas de aprendizagem.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246120" y="2606039"/>
            <a:ext cx="2377440" cy="1161287"/>
          </a:xfrm>
          <a:prstGeom prst="rect">
            <a:avLst/>
          </a:prstGeom>
          <a:solidFill>
            <a:srgbClr val="F2F4F7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87313">
              <a:buNone/>
            </a:pPr>
            <a:r>
              <a:rPr lang="en-US" sz="1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Administrador
</a:t>
            </a: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Mantém catálogo, categorias, trilhas e etapas.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852160" y="2606040"/>
            <a:ext cx="2377440" cy="1161286"/>
          </a:xfrm>
          <a:prstGeom prst="rect">
            <a:avLst/>
          </a:prstGeom>
          <a:solidFill>
            <a:srgbClr val="F2F4F7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87313">
              <a:buNone/>
            </a:pPr>
            <a:r>
              <a:rPr lang="en-US" sz="1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Agente LLM
</a:t>
            </a: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Apoia a criação de trilhas personalizadas e conversa sobre a trilha.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458200" y="2606040"/>
            <a:ext cx="2377440" cy="1161284"/>
          </a:xfrm>
          <a:prstGeom prst="rect">
            <a:avLst/>
          </a:prstGeom>
          <a:solidFill>
            <a:srgbClr val="F2F4F7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87313">
              <a:buNone/>
            </a:pPr>
            <a:r>
              <a:rPr lang="en-US" sz="1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Catálogo
</a:t>
            </a: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Mantém a curadoria separada das sugestões automáticas.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4069080"/>
            <a:ext cx="2560320" cy="301752"/>
          </a:xfrm>
          <a:prstGeom prst="rect">
            <a:avLst/>
          </a:prstGeom>
          <a:solidFill>
            <a:srgbClr val="EEF2F6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Artefato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200400" y="4069080"/>
            <a:ext cx="8001000" cy="301752"/>
          </a:xfrm>
          <a:prstGeom prst="rect">
            <a:avLst/>
          </a:prstGeom>
          <a:solidFill>
            <a:srgbClr val="EEF2F6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Função na baseline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" y="4370832"/>
            <a:ext cx="2560320" cy="301752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RF/RNF/RB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200400" y="4370832"/>
            <a:ext cx="8001000" cy="301752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Definem comportamento, qualidade e regras obrigatórias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080" y="4672584"/>
            <a:ext cx="2560320" cy="301752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Casos de uso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200400" y="4672584"/>
            <a:ext cx="8001000" cy="301752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Organizam fluxos do aluno e do administrador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080" y="4974336"/>
            <a:ext cx="2560320" cy="301752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conceitual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200400" y="4974336"/>
            <a:ext cx="8001000" cy="301752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Estabelece entidades e relações do domínio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0080" y="5276088"/>
            <a:ext cx="2560320" cy="301752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Drivers e ADRs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200400" y="5276088"/>
            <a:ext cx="8001000" cy="301752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Limitam decisões arquiteturais e escolhas caras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688775" y="6556248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650" dirty="0"/>
          </a:p>
        </p:txBody>
      </p:sp>
      <p:sp>
        <p:nvSpPr>
          <p:cNvPr id="3" name="Text 1"/>
          <p:cNvSpPr/>
          <p:nvPr/>
        </p:nvSpPr>
        <p:spPr>
          <a:xfrm>
            <a:off x="640080" y="48463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D15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640080" y="804672"/>
            <a:ext cx="768096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F2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Definição operacional de SDD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261872"/>
            <a:ext cx="9875520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400" i="1" dirty="0">
                <a:solidFill>
                  <a:srgbClr val="5B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Neste curso, SDD é tratado como disciplina de desenvolvimento baseada em especificações versionadas e verificáveis.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874520"/>
            <a:ext cx="2377440" cy="1371600"/>
          </a:xfrm>
          <a:prstGeom prst="rect">
            <a:avLst/>
          </a:prstGeom>
          <a:solidFill>
            <a:srgbClr val="F2F4F7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marL="87313">
              <a:buNone/>
            </a:pPr>
            <a:r>
              <a:rPr lang="en-US" sz="1600" b="1" dirty="0">
                <a:solidFill>
                  <a:srgbClr val="D15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
</a:t>
            </a:r>
            <a:r>
              <a:rPr lang="en-US" sz="1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
</a:t>
            </a: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Artefatos de modelagem aprovados e decisões conhecidas.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182112" y="2542032"/>
            <a:ext cx="466779" cy="0"/>
          </a:xfrm>
          <a:prstGeom prst="line">
            <a:avLst/>
          </a:prstGeom>
          <a:noFill/>
          <a:ln w="16510">
            <a:solidFill>
              <a:srgbClr val="D8DEE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 sz="1600"/>
          </a:p>
        </p:txBody>
      </p:sp>
      <p:sp>
        <p:nvSpPr>
          <p:cNvPr id="8" name="Text 6"/>
          <p:cNvSpPr/>
          <p:nvPr/>
        </p:nvSpPr>
        <p:spPr>
          <a:xfrm>
            <a:off x="3768633" y="1874520"/>
            <a:ext cx="2377440" cy="1371600"/>
          </a:xfrm>
          <a:prstGeom prst="rect">
            <a:avLst/>
          </a:prstGeom>
          <a:solidFill>
            <a:srgbClr val="F2F4F7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marL="87313">
              <a:buNone/>
            </a:pPr>
            <a:r>
              <a:rPr lang="en-US" sz="1600" b="1" dirty="0">
                <a:solidFill>
                  <a:srgbClr val="D15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
</a:t>
            </a:r>
            <a:r>
              <a:rPr lang="en-US" sz="1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
</a:t>
            </a: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Contrato implementável, rastreável e revisável.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227936" y="2542032"/>
            <a:ext cx="434558" cy="0"/>
          </a:xfrm>
          <a:prstGeom prst="line">
            <a:avLst/>
          </a:prstGeom>
          <a:noFill/>
          <a:ln w="16510">
            <a:solidFill>
              <a:srgbClr val="D8DEE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 sz="1600"/>
          </a:p>
        </p:txBody>
      </p:sp>
      <p:sp>
        <p:nvSpPr>
          <p:cNvPr id="10" name="Text 8"/>
          <p:cNvSpPr/>
          <p:nvPr/>
        </p:nvSpPr>
        <p:spPr>
          <a:xfrm>
            <a:off x="6831879" y="1874520"/>
            <a:ext cx="2360013" cy="1371600"/>
          </a:xfrm>
          <a:prstGeom prst="rect">
            <a:avLst/>
          </a:prstGeom>
          <a:solidFill>
            <a:srgbClr val="F2F4F7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marL="87313">
              <a:buNone/>
            </a:pPr>
            <a:r>
              <a:rPr lang="en-US" sz="1600" b="1" dirty="0">
                <a:solidFill>
                  <a:srgbClr val="D15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
</a:t>
            </a:r>
            <a:r>
              <a:rPr lang="en-US" sz="1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Código
</a:t>
            </a: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Implementação subordinada à Spec aprovada.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9315994" y="2542032"/>
            <a:ext cx="428897" cy="0"/>
          </a:xfrm>
          <a:prstGeom prst="line">
            <a:avLst/>
          </a:prstGeom>
          <a:noFill/>
          <a:ln w="16510">
            <a:solidFill>
              <a:srgbClr val="D8DEE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 sz="1600"/>
          </a:p>
        </p:txBody>
      </p:sp>
      <p:sp>
        <p:nvSpPr>
          <p:cNvPr id="12" name="Text 10"/>
          <p:cNvSpPr/>
          <p:nvPr/>
        </p:nvSpPr>
        <p:spPr>
          <a:xfrm>
            <a:off x="9868993" y="1874520"/>
            <a:ext cx="1835328" cy="1371600"/>
          </a:xfrm>
          <a:prstGeom prst="rect">
            <a:avLst/>
          </a:prstGeom>
          <a:solidFill>
            <a:srgbClr val="F2F4F7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marL="87313">
              <a:buNone/>
            </a:pPr>
            <a:r>
              <a:rPr lang="en-US" sz="1600" b="1" dirty="0">
                <a:solidFill>
                  <a:srgbClr val="D15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
</a:t>
            </a:r>
            <a:r>
              <a:rPr lang="en-US" sz="1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Verificação
</a:t>
            </a: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Aceite, testes e divergências.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31520" y="3977640"/>
            <a:ext cx="10881360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D15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600" b="1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Spec não substitui a modelagem; ela transforma uma parte da modelagem em contrato de implementação.
</a:t>
            </a:r>
            <a:endParaRPr lang="en-US" sz="1600" b="1" dirty="0"/>
          </a:p>
          <a:p>
            <a:pPr marL="0" indent="0">
              <a:buNone/>
            </a:pPr>
            <a:r>
              <a:rPr lang="en-US" sz="1600" b="1" dirty="0">
                <a:solidFill>
                  <a:srgbClr val="D15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revisão não pergunta somente se o código está legível. Ela verifica se o código implementa a Spec aprovada.
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D15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Spec precisa mudar junto com o código quando a decisão humana alterar o comportamento esperado.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688775" y="6556248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650" dirty="0"/>
          </a:p>
        </p:txBody>
      </p:sp>
      <p:sp>
        <p:nvSpPr>
          <p:cNvPr id="3" name="Text 1"/>
          <p:cNvSpPr/>
          <p:nvPr/>
        </p:nvSpPr>
        <p:spPr>
          <a:xfrm>
            <a:off x="640080" y="48463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D15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MOTIVAÇÃO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640079" y="687542"/>
            <a:ext cx="10750731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F2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 que especificar antes de implementar com agente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1965960" cy="594360"/>
          </a:xfrm>
          <a:prstGeom prst="rect">
            <a:avLst/>
          </a:prstGeom>
          <a:solidFill>
            <a:srgbClr val="EEF2F6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Situação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606040" y="1417320"/>
            <a:ext cx="4114800" cy="594360"/>
          </a:xfrm>
          <a:prstGeom prst="rect">
            <a:avLst/>
          </a:prstGeom>
          <a:solidFill>
            <a:srgbClr val="EEF2F6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Risco no uso direto do agente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720840" y="1417320"/>
            <a:ext cx="4800600" cy="594360"/>
          </a:xfrm>
          <a:prstGeom prst="rect">
            <a:avLst/>
          </a:prstGeom>
          <a:solidFill>
            <a:srgbClr val="EEF2F6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Resposta esperada no SDD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011680"/>
            <a:ext cx="1965960" cy="594360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Muitos artefatos de modelagem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606040" y="2011680"/>
            <a:ext cx="4114800" cy="594360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agente escolhe partes convenientes do contexto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720840" y="2011680"/>
            <a:ext cx="4800600" cy="594360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baseline é analisada antes do mapa de Specs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2606040"/>
            <a:ext cx="1965960" cy="594360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Requisitos transversais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606040" y="2606040"/>
            <a:ext cx="4114800" cy="594360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Segurança e desempenho ficam implícitos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720840" y="2606040"/>
            <a:ext cx="4800600" cy="594360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RNF aparece nos critérios da Spec afetada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080" y="3200400"/>
            <a:ext cx="1965960" cy="594360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Decisões em aberto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606040" y="3200400"/>
            <a:ext cx="4114800" cy="594360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agente completa lacunas sem avisar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720840" y="3200400"/>
            <a:ext cx="4800600" cy="594360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OPEN-XX registra a decisão pendente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0080" y="3794760"/>
            <a:ext cx="1965960" cy="594360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Código gerado rápido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606040" y="3794760"/>
            <a:ext cx="4114800" cy="594360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Revisão perde referência objetiva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720840" y="3794760"/>
            <a:ext cx="4800600" cy="594360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Aceite e invariantes guiam a verificação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0080" y="4892040"/>
            <a:ext cx="1042416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disciplina reduz ambiguidade operacional. O agente deixa de receber uma intenção ampla e passa a trabalhar sobre uma unidade de comportamento previamente delimitada.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688775" y="6556248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650" dirty="0"/>
          </a:p>
        </p:txBody>
      </p:sp>
      <p:sp>
        <p:nvSpPr>
          <p:cNvPr id="3" name="Text 1"/>
          <p:cNvSpPr/>
          <p:nvPr/>
        </p:nvSpPr>
        <p:spPr>
          <a:xfrm>
            <a:off x="640080" y="48463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D15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FLUXO DIDÁTICO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640080" y="804672"/>
            <a:ext cx="768096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F2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Sequência adotada para os projetos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1965960"/>
            <a:ext cx="2240280" cy="1371600"/>
          </a:xfrm>
          <a:prstGeom prst="rect">
            <a:avLst/>
          </a:prstGeom>
          <a:solidFill>
            <a:srgbClr val="F2F4F7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marL="87313">
              <a:buNone/>
            </a:pPr>
            <a:r>
              <a:rPr lang="en-US" sz="1600" b="1" dirty="0">
                <a:solidFill>
                  <a:srgbClr val="D15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
</a:t>
            </a:r>
            <a:r>
              <a:rPr lang="en-US" sz="1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Modelagem
</a:t>
            </a: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Visão, personas, RF, RNF, RB, modelo, UC, drivers e ADRs.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017520" y="2651760"/>
            <a:ext cx="548640" cy="0"/>
          </a:xfrm>
          <a:prstGeom prst="line">
            <a:avLst/>
          </a:prstGeom>
          <a:noFill/>
          <a:ln w="16510">
            <a:solidFill>
              <a:srgbClr val="D8DEE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 sz="1600"/>
          </a:p>
        </p:txBody>
      </p:sp>
      <p:sp>
        <p:nvSpPr>
          <p:cNvPr id="7" name="Text 5"/>
          <p:cNvSpPr/>
          <p:nvPr/>
        </p:nvSpPr>
        <p:spPr>
          <a:xfrm>
            <a:off x="3657600" y="1965960"/>
            <a:ext cx="2240280" cy="1371600"/>
          </a:xfrm>
          <a:prstGeom prst="rect">
            <a:avLst/>
          </a:prstGeom>
          <a:solidFill>
            <a:srgbClr val="F2F4F7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" tIns="1397" rIns="1397" bIns="1397" rtlCol="0" anchor="ctr">
            <a:normAutofit lnSpcReduction="10000"/>
          </a:bodyPr>
          <a:lstStyle/>
          <a:p>
            <a:pPr marL="87313">
              <a:buNone/>
            </a:pPr>
            <a:r>
              <a:rPr lang="en-US" sz="1600" b="1" dirty="0">
                <a:solidFill>
                  <a:srgbClr val="D15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
</a:t>
            </a:r>
            <a:r>
              <a:rPr lang="en-US" sz="1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Mapa de Specs
</a:t>
            </a: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Lista ordenada, rastreável e dependente da baseline.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629400" y="2651760"/>
            <a:ext cx="0" cy="0"/>
          </a:xfrm>
          <a:prstGeom prst="line">
            <a:avLst/>
          </a:prstGeom>
          <a:noFill/>
          <a:ln w="16510">
            <a:solidFill>
              <a:srgbClr val="D8DEE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 sz="1600"/>
          </a:p>
        </p:txBody>
      </p:sp>
      <p:sp>
        <p:nvSpPr>
          <p:cNvPr id="9" name="Text 7"/>
          <p:cNvSpPr/>
          <p:nvPr/>
        </p:nvSpPr>
        <p:spPr>
          <a:xfrm>
            <a:off x="6583680" y="1965960"/>
            <a:ext cx="2240280" cy="1371600"/>
          </a:xfrm>
          <a:prstGeom prst="rect">
            <a:avLst/>
          </a:prstGeom>
          <a:solidFill>
            <a:srgbClr val="F2F4F7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marL="87313">
              <a:buNone/>
            </a:pPr>
            <a:r>
              <a:rPr lang="en-US" sz="1600" b="1" dirty="0">
                <a:solidFill>
                  <a:srgbClr val="D15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
</a:t>
            </a:r>
            <a:r>
              <a:rPr lang="en-US" sz="1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 aprovada
</a:t>
            </a: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Unidade de desenvolvimento com critérios de aceite.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9555480" y="2651760"/>
            <a:ext cx="0" cy="0"/>
          </a:xfrm>
          <a:prstGeom prst="line">
            <a:avLst/>
          </a:prstGeom>
          <a:noFill/>
          <a:ln w="16510">
            <a:solidFill>
              <a:srgbClr val="D8DEE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 sz="1600"/>
          </a:p>
        </p:txBody>
      </p:sp>
      <p:sp>
        <p:nvSpPr>
          <p:cNvPr id="11" name="Text 9"/>
          <p:cNvSpPr/>
          <p:nvPr/>
        </p:nvSpPr>
        <p:spPr>
          <a:xfrm>
            <a:off x="9509760" y="1965960"/>
            <a:ext cx="2240280" cy="1371600"/>
          </a:xfrm>
          <a:prstGeom prst="rect">
            <a:avLst/>
          </a:prstGeom>
          <a:solidFill>
            <a:srgbClr val="F2F4F7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marL="87313">
              <a:buNone/>
            </a:pPr>
            <a:r>
              <a:rPr lang="en-US" sz="1600" b="1" dirty="0">
                <a:solidFill>
                  <a:srgbClr val="D15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
</a:t>
            </a:r>
            <a:r>
              <a:rPr lang="en-US" sz="1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Implementação
</a:t>
            </a: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Código, testes e verificação contra a Spec.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77240" y="4160520"/>
            <a:ext cx="10515600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D15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projeto da turma deve repetir esse fluxo com seus próprios artefatos de modelagem.
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D15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aprovação humana ocorre no mapa e em cada Spec individual.
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D15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implementação começa somente depois que a Spec em execução estiver revisada.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688775" y="6556248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650" dirty="0"/>
          </a:p>
        </p:txBody>
      </p:sp>
      <p:sp>
        <p:nvSpPr>
          <p:cNvPr id="3" name="Text 1"/>
          <p:cNvSpPr/>
          <p:nvPr/>
        </p:nvSpPr>
        <p:spPr>
          <a:xfrm>
            <a:off x="640080" y="48463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D15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640079" y="804672"/>
            <a:ext cx="9035143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F2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o agente deve ler antes de propor Specs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2743200" cy="464820"/>
          </a:xfrm>
          <a:prstGeom prst="rect">
            <a:avLst/>
          </a:prstGeom>
          <a:solidFill>
            <a:srgbClr val="EEF2F6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Grupo de artefatos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383280" y="1417320"/>
            <a:ext cx="8046720" cy="464820"/>
          </a:xfrm>
          <a:prstGeom prst="rect">
            <a:avLst/>
          </a:prstGeom>
          <a:solidFill>
            <a:srgbClr val="EEF2F6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Pergunta que o agente deve responder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882140"/>
            <a:ext cx="2743200" cy="464820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Visão e personas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383280" y="1882140"/>
            <a:ext cx="8046720" cy="464820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 valor o sistema entrega e para quem?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346960"/>
            <a:ext cx="2743200" cy="464820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RF, RNF e RB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383280" y="2346960"/>
            <a:ext cx="8046720" cy="464820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Quais obrigações e restrições devem ser preservadas?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2811780"/>
            <a:ext cx="2743200" cy="464820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Casos de uso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383280" y="2811780"/>
            <a:ext cx="8046720" cy="464820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Quais fluxos principais, alternativos e exceções existem?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" y="3276600"/>
            <a:ext cx="2743200" cy="464820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conceitual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383280" y="3276600"/>
            <a:ext cx="8046720" cy="464820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Quais entidades, relações e invariantes pertencem ao domínio?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080" y="3741420"/>
            <a:ext cx="2743200" cy="464820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Drivers e ADRs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383280" y="3741420"/>
            <a:ext cx="8046720" cy="464820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Quais decisões arquiteturais já restringem a solução?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0080" y="4617720"/>
            <a:ext cx="1046988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baseline não é um anexo decorativo. Ela funciona como fonte de verdade para decompor o trabalho, registrar decisões em aberto e impedir que o agente complete lacunas sem revisão.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688775" y="6556248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650" dirty="0"/>
          </a:p>
        </p:txBody>
      </p:sp>
      <p:sp>
        <p:nvSpPr>
          <p:cNvPr id="3" name="Text 1"/>
          <p:cNvSpPr/>
          <p:nvPr/>
        </p:nvSpPr>
        <p:spPr>
          <a:xfrm>
            <a:off x="640080" y="48463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D15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MAPA DE SPECS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640080" y="804672"/>
            <a:ext cx="768096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F2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Primeiro produto do agente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79" y="1259697"/>
            <a:ext cx="10911841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>
              <a:buNone/>
            </a:pPr>
            <a:r>
              <a:rPr lang="en-US" i="1" dirty="0">
                <a:solidFill>
                  <a:srgbClr val="5B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</a:t>
            </a:r>
            <a:r>
              <a:rPr lang="en-US" i="1" dirty="0" err="1">
                <a:solidFill>
                  <a:srgbClr val="5B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mapa</a:t>
            </a:r>
            <a:r>
              <a:rPr lang="en-US" i="1" dirty="0">
                <a:solidFill>
                  <a:srgbClr val="5B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 specs é uma lista ordenada de unidades implementáveis. Ele ainda não é implementação.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112519" y="2516777"/>
            <a:ext cx="4358641" cy="2103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D15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Identifica comportamentos do sistema e dependências entre eles.
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D15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Agrupa requisitos relacionados por fluxo ou capacidade observável.
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D15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 RF, RB, RNF, UC, entidades, drivers e ADRs de cada unidade.
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D15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Mostra por que a ordem proposta permite evolução incremental.
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D15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Interrompe o processo antes de gerar código ou detalhes não decididos.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947959" y="1783080"/>
            <a:ext cx="4297680" cy="2468880"/>
          </a:xfrm>
          <a:prstGeom prst="rect">
            <a:avLst/>
          </a:prstGeom>
          <a:solidFill>
            <a:srgbClr val="FCEBED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87313">
              <a:buNone/>
            </a:pPr>
            <a:r>
              <a:rPr lang="en-US" sz="1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é aceitável
</a:t>
            </a: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"Implementar backend", "criar banco" ou "fazer frontend" não são boas Specs. São recortes técnicos amplos, com pouco valor de verificação.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947959" y="4434840"/>
            <a:ext cx="4297680" cy="1051560"/>
          </a:xfrm>
          <a:prstGeom prst="rect">
            <a:avLst/>
          </a:prstGeom>
          <a:solidFill>
            <a:srgbClr val="F2F4F7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87313">
              <a:buNone/>
            </a:pPr>
            <a:r>
              <a:rPr lang="en-US" sz="1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Critério de qualidade
</a:t>
            </a: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Spec deve terminar com comportamento verificável, mesmo que interno ao sistema.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688775" y="6556248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650" dirty="0"/>
          </a:p>
        </p:txBody>
      </p:sp>
      <p:sp>
        <p:nvSpPr>
          <p:cNvPr id="3" name="Text 1"/>
          <p:cNvSpPr/>
          <p:nvPr/>
        </p:nvSpPr>
        <p:spPr>
          <a:xfrm>
            <a:off x="640080" y="48463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D15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EXEMPLO · ESTUDAAI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640080" y="804672"/>
            <a:ext cx="768096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F2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Mapa provável de Specs para discussão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685800" cy="382385"/>
          </a:xfrm>
          <a:prstGeom prst="rect">
            <a:avLst/>
          </a:prstGeom>
          <a:solidFill>
            <a:srgbClr val="EEF2F6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25880" y="1417320"/>
            <a:ext cx="4572000" cy="382385"/>
          </a:xfrm>
          <a:prstGeom prst="rect">
            <a:avLst/>
          </a:prstGeom>
          <a:solidFill>
            <a:srgbClr val="EEF2F6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 provável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897880" y="1417320"/>
            <a:ext cx="5623560" cy="382385"/>
          </a:xfrm>
          <a:prstGeom prst="rect">
            <a:avLst/>
          </a:prstGeom>
          <a:solidFill>
            <a:srgbClr val="EEF2F6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principal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1799705"/>
            <a:ext cx="685800" cy="382385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25880" y="1799705"/>
            <a:ext cx="4572000" cy="382385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Fundação arquitetural do projeto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897880" y="1799705"/>
            <a:ext cx="5623560" cy="382385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ADR-001, ADR-004, RNF07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2182091"/>
            <a:ext cx="685800" cy="382385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25880" y="2182091"/>
            <a:ext cx="4572000" cy="382385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Cadastro e autenticação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897880" y="2182091"/>
            <a:ext cx="5623560" cy="382385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RF01, RF02, RB01, RB02, RNF05, RNF06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080" y="2564476"/>
            <a:ext cx="685800" cy="382385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25880" y="2564476"/>
            <a:ext cx="4572000" cy="382385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Consulta do catálogo de trilhas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897880" y="2564476"/>
            <a:ext cx="5623560" cy="382385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RF03, Categoria, Trilha, Etapa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0080" y="2946862"/>
            <a:ext cx="685800" cy="382385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25880" y="2946862"/>
            <a:ext cx="4572000" cy="382385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Iniciar ou retomar uma trilha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897880" y="2946862"/>
            <a:ext cx="5623560" cy="382385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UC01, RB04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0080" y="3329247"/>
            <a:ext cx="685800" cy="382385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005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325880" y="3329247"/>
            <a:ext cx="4572000" cy="382385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Visualizar trilha e progresso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897880" y="3329247"/>
            <a:ext cx="5623560" cy="382385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RF05, RF06, RB06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0080" y="3711633"/>
            <a:ext cx="685800" cy="382385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006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325880" y="3711633"/>
            <a:ext cx="4572000" cy="382385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Registrar conclusão de etapa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897880" y="3711633"/>
            <a:ext cx="5623560" cy="382385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RF07, RB05, RB06, RB12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40080" y="4094018"/>
            <a:ext cx="685800" cy="382385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007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325880" y="4094018"/>
            <a:ext cx="4572000" cy="382385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Administração do catálogo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897880" y="4094018"/>
            <a:ext cx="5623560" cy="382385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RF09-RF12, RB03, RB07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40080" y="4476404"/>
            <a:ext cx="685800" cy="382385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008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325880" y="4476404"/>
            <a:ext cx="4572000" cy="382385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Remoção com impacto em progresso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897880" y="4476404"/>
            <a:ext cx="5623560" cy="382385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RB11, UC02-A5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40080" y="4858789"/>
            <a:ext cx="685800" cy="382385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009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325880" y="4858789"/>
            <a:ext cx="4572000" cy="382385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Trilha personalizada com LLM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897880" y="4858789"/>
            <a:ext cx="5623560" cy="382385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RF04, RB08, RB09, ADR-002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40080" y="5241175"/>
            <a:ext cx="685800" cy="382385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010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325880" y="5241175"/>
            <a:ext cx="4572000" cy="382385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Conversa com agente LLM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897880" y="5241175"/>
            <a:ext cx="5623560" cy="382385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RF08, RB10, ADR-002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40080" y="5806440"/>
            <a:ext cx="106070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 lista é exemplo de discussão. O agente deve justificar a decomposição a partir dos artefatos do projeto.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688775" y="6556248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650" dirty="0"/>
          </a:p>
        </p:txBody>
      </p:sp>
      <p:sp>
        <p:nvSpPr>
          <p:cNvPr id="3" name="Text 1"/>
          <p:cNvSpPr/>
          <p:nvPr/>
        </p:nvSpPr>
        <p:spPr>
          <a:xfrm>
            <a:off x="640080" y="48463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D15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 APROVADA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640080" y="804672"/>
            <a:ext cx="768096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F2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Estrutura mínima de uma Spec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2286000" cy="485775"/>
          </a:xfrm>
          <a:prstGeom prst="rect">
            <a:avLst/>
          </a:prstGeom>
          <a:solidFill>
            <a:srgbClr val="EEF2F6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Seção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926080" y="1417320"/>
            <a:ext cx="8595360" cy="485775"/>
          </a:xfrm>
          <a:prstGeom prst="rect">
            <a:avLst/>
          </a:prstGeom>
          <a:solidFill>
            <a:srgbClr val="EEF2F6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Conteúdo esperado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903095"/>
            <a:ext cx="2286000" cy="485775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Identificação</a:t>
            </a:r>
            <a:endParaRPr lang="en-US" sz="1600" b="1" dirty="0"/>
          </a:p>
        </p:txBody>
      </p:sp>
      <p:sp>
        <p:nvSpPr>
          <p:cNvPr id="8" name="Text 6"/>
          <p:cNvSpPr/>
          <p:nvPr/>
        </p:nvSpPr>
        <p:spPr>
          <a:xfrm>
            <a:off x="2926080" y="1903095"/>
            <a:ext cx="8595360" cy="485775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ID, nome, objetivo e valor entregue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388870"/>
            <a:ext cx="2286000" cy="485775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Rastreabilidade</a:t>
            </a:r>
            <a:endParaRPr lang="en-US" sz="1600" b="1" dirty="0"/>
          </a:p>
        </p:txBody>
      </p:sp>
      <p:sp>
        <p:nvSpPr>
          <p:cNvPr id="10" name="Text 8"/>
          <p:cNvSpPr/>
          <p:nvPr/>
        </p:nvSpPr>
        <p:spPr>
          <a:xfrm>
            <a:off x="2926080" y="2388870"/>
            <a:ext cx="8595360" cy="485775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RF, RB, RNF, UC, entidades, drivers e ADRs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2874645"/>
            <a:ext cx="2286000" cy="485775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Escopo</a:t>
            </a:r>
            <a:endParaRPr lang="en-US" sz="1600" b="1" dirty="0"/>
          </a:p>
        </p:txBody>
      </p:sp>
      <p:sp>
        <p:nvSpPr>
          <p:cNvPr id="12" name="Text 10"/>
          <p:cNvSpPr/>
          <p:nvPr/>
        </p:nvSpPr>
        <p:spPr>
          <a:xfrm>
            <a:off x="2926080" y="2874645"/>
            <a:ext cx="8595360" cy="485775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Incluído e fora do escopo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" y="3360420"/>
            <a:ext cx="2286000" cy="485775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Comportamento</a:t>
            </a:r>
            <a:endParaRPr lang="en-US" sz="1600" b="1" dirty="0"/>
          </a:p>
        </p:txBody>
      </p:sp>
      <p:sp>
        <p:nvSpPr>
          <p:cNvPr id="14" name="Text 12"/>
          <p:cNvSpPr/>
          <p:nvPr/>
        </p:nvSpPr>
        <p:spPr>
          <a:xfrm>
            <a:off x="2926080" y="3360420"/>
            <a:ext cx="8595360" cy="485775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Pré-condições, fluxo principal, alternativos e exceções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080" y="3846195"/>
            <a:ext cx="2286000" cy="485775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Invariantes</a:t>
            </a:r>
            <a:endParaRPr lang="en-US" sz="1600" b="1" dirty="0"/>
          </a:p>
        </p:txBody>
      </p:sp>
      <p:sp>
        <p:nvSpPr>
          <p:cNvPr id="16" name="Text 14"/>
          <p:cNvSpPr/>
          <p:nvPr/>
        </p:nvSpPr>
        <p:spPr>
          <a:xfrm>
            <a:off x="2926080" y="3846195"/>
            <a:ext cx="8595360" cy="485775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Regras que a implementação não pode violar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0080" y="4331970"/>
            <a:ext cx="2286000" cy="485775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Critérios de aceitação</a:t>
            </a:r>
            <a:endParaRPr lang="en-US" sz="1600" b="1" dirty="0"/>
          </a:p>
        </p:txBody>
      </p:sp>
      <p:sp>
        <p:nvSpPr>
          <p:cNvPr id="18" name="Text 16"/>
          <p:cNvSpPr/>
          <p:nvPr/>
        </p:nvSpPr>
        <p:spPr>
          <a:xfrm>
            <a:off x="2926080" y="4331970"/>
            <a:ext cx="8595360" cy="485775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Casos observáveis no formato Dado, Quando, Então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0080" y="4817745"/>
            <a:ext cx="2286000" cy="485775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Questões em aberto</a:t>
            </a:r>
            <a:endParaRPr lang="en-US" sz="1600" b="1" dirty="0"/>
          </a:p>
        </p:txBody>
      </p:sp>
      <p:sp>
        <p:nvSpPr>
          <p:cNvPr id="20" name="Text 18"/>
          <p:cNvSpPr/>
          <p:nvPr/>
        </p:nvSpPr>
        <p:spPr>
          <a:xfrm>
            <a:off x="2926080" y="4817745"/>
            <a:ext cx="8595360" cy="485775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OPEN-XX para decisão ainda não tomada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0080" y="5577840"/>
            <a:ext cx="1065276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</a:t>
            </a:r>
            <a:r>
              <a:rPr lang="en-US" sz="1600" b="1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</a:t>
            </a: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não deve transformar o modelo conceitual em esquema físico sem decisão explícita. Também não deve escolher bibliotecas, banco ou fila se esses pontos permanecem em aberto.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688775" y="6556248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650" dirty="0"/>
          </a:p>
        </p:txBody>
      </p:sp>
      <p:sp>
        <p:nvSpPr>
          <p:cNvPr id="3" name="Text 1"/>
          <p:cNvSpPr/>
          <p:nvPr/>
        </p:nvSpPr>
        <p:spPr>
          <a:xfrm>
            <a:off x="640080" y="48463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D15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ACEITE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640080" y="804672"/>
            <a:ext cx="768096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F2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Critérios verificáveis de comportamento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85800" y="1463040"/>
            <a:ext cx="3246120" cy="1234440"/>
          </a:xfrm>
          <a:prstGeom prst="rect">
            <a:avLst/>
          </a:prstGeom>
          <a:solidFill>
            <a:srgbClr val="F2F4F7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87313">
              <a:buNone/>
            </a:pPr>
            <a:r>
              <a:rPr lang="en-US" sz="1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Dado
</a:t>
            </a: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Estado inicial necessário para avaliar o comportamento.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434840" y="1463040"/>
            <a:ext cx="3246120" cy="1234440"/>
          </a:xfrm>
          <a:prstGeom prst="rect">
            <a:avLst/>
          </a:prstGeom>
          <a:solidFill>
            <a:srgbClr val="F2F4F7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87313">
              <a:buNone/>
            </a:pPr>
            <a:r>
              <a:rPr lang="en-US" sz="1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
</a:t>
            </a: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Ação, evento ou estímulo executado pelo usuário ou sistema.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183880" y="1463040"/>
            <a:ext cx="3246120" cy="1234440"/>
          </a:xfrm>
          <a:prstGeom prst="rect">
            <a:avLst/>
          </a:prstGeom>
          <a:solidFill>
            <a:srgbClr val="F2F4F7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87313">
              <a:buNone/>
            </a:pPr>
            <a:r>
              <a:rPr lang="en-US" sz="1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Então
</a:t>
            </a: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 esperado, regra preservada ou erro produzido.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" y="3246120"/>
            <a:ext cx="2103120" cy="400050"/>
          </a:xfrm>
          <a:prstGeom prst="rect">
            <a:avLst/>
          </a:prstGeom>
          <a:solidFill>
            <a:srgbClr val="EEF2F6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Exemplo de critério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788920" y="3246120"/>
            <a:ext cx="8641080" cy="400050"/>
          </a:xfrm>
          <a:prstGeom prst="rect">
            <a:avLst/>
          </a:prstGeom>
          <a:solidFill>
            <a:srgbClr val="EEF2F6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Descrição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85800" y="3646170"/>
            <a:ext cx="2103120" cy="400050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Dado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788920" y="3646170"/>
            <a:ext cx="8641080" cy="400050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aluno autenticado acompanhando uma trilha com três etapas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85800" y="4046220"/>
            <a:ext cx="2103120" cy="400050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788920" y="4046220"/>
            <a:ext cx="8641080" cy="400050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 marca explicitamente a segunda etapa como concluída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85800" y="4446270"/>
            <a:ext cx="2103120" cy="400050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Então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788920" y="4446270"/>
            <a:ext cx="8641080" cy="400050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sistema registra a conclusão e recalcula o percentual com base nas etapas concluídas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85800" y="5257800"/>
            <a:ext cx="105156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Critério de aceite não é intenção genérica. Ele precisa permitir uma decisão binária: passou ou não passou.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688775" y="6556248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650" dirty="0"/>
          </a:p>
        </p:txBody>
      </p:sp>
      <p:sp>
        <p:nvSpPr>
          <p:cNvPr id="3" name="Text 1"/>
          <p:cNvSpPr/>
          <p:nvPr/>
        </p:nvSpPr>
        <p:spPr>
          <a:xfrm>
            <a:off x="640080" y="48463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D15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DECISÕES EM ABERTO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640080" y="804672"/>
            <a:ext cx="1075944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F2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agente não deve preencher lacunas silenciosamente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85799" y="1508760"/>
            <a:ext cx="10217331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D15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a baseline não define um detalhe necessário, a Spec deve registrar OPEN-XX.
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D15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Questões abertas não bloqueiam sempre a aula; elas tornam explícito o que exige decisão humana.
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D15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implementação não deve converter hipótese do agente em decisão arquitetural.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" y="3429000"/>
            <a:ext cx="3840480" cy="434340"/>
          </a:xfrm>
          <a:prstGeom prst="rect">
            <a:avLst/>
          </a:prstGeom>
          <a:solidFill>
            <a:srgbClr val="EEF2F6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Exemplo de OPEN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26280" y="3429000"/>
            <a:ext cx="6812280" cy="434340"/>
          </a:xfrm>
          <a:prstGeom prst="rect">
            <a:avLst/>
          </a:prstGeom>
          <a:solidFill>
            <a:srgbClr val="EEF2F6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87313">
              <a:buNone/>
            </a:pPr>
            <a:r>
              <a:rPr lang="en-US" sz="1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Motivo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" y="3863340"/>
            <a:ext cx="3840480" cy="434340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OPEN-01 - SGBD ainda não definido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26280" y="3863340"/>
            <a:ext cx="6812280" cy="434340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87313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modelo conceitual não é modelo físico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85800" y="4297680"/>
            <a:ext cx="3840480" cy="434340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OPEN-02 - mecanismo de sessão ou JWT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26280" y="4297680"/>
            <a:ext cx="6812280" cy="434340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87313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ADR registra autorização na API, mas não escolhe o protocolo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85800" y="4732020"/>
            <a:ext cx="3840480" cy="434340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OPEN-03 - fila para LLM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26280" y="4732020"/>
            <a:ext cx="6812280" cy="434340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87313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fluxo permite evolução posterior, mas não exige fila inicial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688775" y="6556248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650" dirty="0"/>
          </a:p>
        </p:txBody>
      </p:sp>
      <p:sp>
        <p:nvSpPr>
          <p:cNvPr id="3" name="Text 1"/>
          <p:cNvSpPr/>
          <p:nvPr/>
        </p:nvSpPr>
        <p:spPr>
          <a:xfrm>
            <a:off x="640080" y="48463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D15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IMPLEMENTAÇÃO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640080" y="804672"/>
            <a:ext cx="914400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F2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Separar criação da Spec e geração de código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2240280" cy="1508760"/>
          </a:xfrm>
          <a:prstGeom prst="rect">
            <a:avLst/>
          </a:prstGeom>
          <a:solidFill>
            <a:srgbClr val="F2F4F7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marL="87313">
              <a:buNone/>
            </a:pPr>
            <a:r>
              <a:rPr lang="en-US" sz="1600" b="1" dirty="0">
                <a:solidFill>
                  <a:srgbClr val="D15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
</a:t>
            </a:r>
            <a:r>
              <a:rPr lang="en-US" sz="1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Gerar mapa
</a:t>
            </a: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agente propõe a decomposição e para.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063240" y="2212848"/>
            <a:ext cx="594360" cy="0"/>
          </a:xfrm>
          <a:prstGeom prst="line">
            <a:avLst/>
          </a:prstGeom>
          <a:noFill/>
          <a:ln w="16510">
            <a:solidFill>
              <a:srgbClr val="D8DEE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 sz="1600"/>
          </a:p>
        </p:txBody>
      </p:sp>
      <p:sp>
        <p:nvSpPr>
          <p:cNvPr id="7" name="Text 5"/>
          <p:cNvSpPr/>
          <p:nvPr/>
        </p:nvSpPr>
        <p:spPr>
          <a:xfrm>
            <a:off x="3749040" y="1645920"/>
            <a:ext cx="2240280" cy="1508760"/>
          </a:xfrm>
          <a:prstGeom prst="rect">
            <a:avLst/>
          </a:prstGeom>
          <a:solidFill>
            <a:srgbClr val="F2F4F7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" tIns="1397" rIns="1397" bIns="1397" rtlCol="0" anchor="ctr">
            <a:noAutofit/>
          </a:bodyPr>
          <a:lstStyle/>
          <a:p>
            <a:pPr marL="87313">
              <a:buNone/>
            </a:pPr>
            <a:r>
              <a:rPr lang="en-US" sz="1600" b="1" dirty="0">
                <a:solidFill>
                  <a:srgbClr val="D15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
</a:t>
            </a:r>
            <a:r>
              <a:rPr lang="en-US" sz="1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Revisar
</a:t>
            </a: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equipe ajusta ordem, escopo e decisões abertas.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080760" y="2212848"/>
            <a:ext cx="594360" cy="0"/>
          </a:xfrm>
          <a:prstGeom prst="line">
            <a:avLst/>
          </a:prstGeom>
          <a:noFill/>
          <a:ln w="16510">
            <a:solidFill>
              <a:srgbClr val="D8DEE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 sz="1600"/>
          </a:p>
        </p:txBody>
      </p:sp>
      <p:sp>
        <p:nvSpPr>
          <p:cNvPr id="9" name="Text 7"/>
          <p:cNvSpPr/>
          <p:nvPr/>
        </p:nvSpPr>
        <p:spPr>
          <a:xfrm>
            <a:off x="6766560" y="1645920"/>
            <a:ext cx="2240280" cy="1508760"/>
          </a:xfrm>
          <a:prstGeom prst="rect">
            <a:avLst/>
          </a:prstGeom>
          <a:solidFill>
            <a:srgbClr val="F2F4F7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" tIns="1397" rIns="1397" bIns="1397" rtlCol="0" anchor="ctr">
            <a:noAutofit/>
          </a:bodyPr>
          <a:lstStyle/>
          <a:p>
            <a:pPr marL="87313">
              <a:buNone/>
            </a:pPr>
            <a:r>
              <a:rPr lang="en-US" sz="1600" b="1" dirty="0">
                <a:solidFill>
                  <a:srgbClr val="D15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
</a:t>
            </a:r>
            <a:r>
              <a:rPr lang="en-US" sz="1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Gerar uma Spec
</a:t>
            </a: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agente produz somente a Spec solicitada.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9098280" y="2212848"/>
            <a:ext cx="594360" cy="0"/>
          </a:xfrm>
          <a:prstGeom prst="line">
            <a:avLst/>
          </a:prstGeom>
          <a:noFill/>
          <a:ln w="16510">
            <a:solidFill>
              <a:srgbClr val="D8DEE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 sz="1600"/>
          </a:p>
        </p:txBody>
      </p:sp>
      <p:sp>
        <p:nvSpPr>
          <p:cNvPr id="11" name="Text 9"/>
          <p:cNvSpPr/>
          <p:nvPr/>
        </p:nvSpPr>
        <p:spPr>
          <a:xfrm>
            <a:off x="9784080" y="1645920"/>
            <a:ext cx="1645920" cy="1508760"/>
          </a:xfrm>
          <a:prstGeom prst="rect">
            <a:avLst/>
          </a:prstGeom>
          <a:solidFill>
            <a:srgbClr val="F2F4F7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marL="87313">
              <a:buNone/>
            </a:pPr>
            <a:r>
              <a:rPr lang="en-US" sz="1600" b="1" dirty="0">
                <a:solidFill>
                  <a:srgbClr val="D15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
</a:t>
            </a:r>
            <a:r>
              <a:rPr lang="en-US" sz="1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Implementar
</a:t>
            </a: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código segue a Spec aprovada.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1520" y="3657600"/>
            <a:ext cx="1056132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recomendação prática para o laboratório é usar um novo contexto do agente para a implementação, fornecendo a Spec aprovada como contrato de trabalho.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31520" y="4800600"/>
            <a:ext cx="10561320" cy="1252728"/>
          </a:xfrm>
          <a:prstGeom prst="rect">
            <a:avLst/>
          </a:prstGeom>
          <a:solidFill>
            <a:srgbClr val="E8F0F7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" tIns="1524" rIns="1524" bIns="1524" rtlCol="0" anchor="ctr">
            <a:noAutofit/>
          </a:bodyPr>
          <a:lstStyle/>
          <a:p>
            <a:pPr marL="87313">
              <a:buNone/>
            </a:pPr>
            <a:r>
              <a:rPr lang="en-US" sz="1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Regra de </a:t>
            </a:r>
            <a:r>
              <a:rPr lang="en-US" sz="1600" b="1" dirty="0" err="1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governança</a:t>
            </a:r>
            <a:endParaRPr lang="en-US" sz="1600" b="1" dirty="0">
              <a:solidFill>
                <a:srgbClr val="1F2933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87313">
              <a:buNone/>
            </a:pPr>
            <a:r>
              <a:rPr lang="en-US" sz="1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Conflitos entre código, Spec e baseline devem ser registrados. A correção ou alteração da baseline exige decisão humana.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688775" y="6556248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650" dirty="0"/>
          </a:p>
        </p:txBody>
      </p:sp>
      <p:sp>
        <p:nvSpPr>
          <p:cNvPr id="3" name="Text 1"/>
          <p:cNvSpPr/>
          <p:nvPr/>
        </p:nvSpPr>
        <p:spPr>
          <a:xfrm>
            <a:off x="640080" y="48463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D15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SEGURANÇA NO USO DE AGENTES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640080" y="804672"/>
            <a:ext cx="768096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F2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 que segurança entra na aula de SDD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339378"/>
            <a:ext cx="10149840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>
              <a:buNone/>
            </a:pPr>
            <a:r>
              <a:rPr lang="en-US" i="1" dirty="0">
                <a:solidFill>
                  <a:srgbClr val="5B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Spec limita o comportamento esperado; a governança técnica limita ações perigosas do agente.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85800" y="1920240"/>
            <a:ext cx="3108960" cy="1325880"/>
          </a:xfrm>
          <a:prstGeom prst="rect">
            <a:avLst/>
          </a:prstGeom>
          <a:solidFill>
            <a:srgbClr val="F2F4F7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87313">
              <a:buNone/>
            </a:pPr>
            <a:r>
              <a:rPr lang="en-US" sz="1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Risco de contexto
</a:t>
            </a: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agente recebe muitos documentos e prioriza partes diferentes conforme a conversa.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26280" y="1920240"/>
            <a:ext cx="3108960" cy="1325880"/>
          </a:xfrm>
          <a:prstGeom prst="rect">
            <a:avLst/>
          </a:prstGeom>
          <a:solidFill>
            <a:srgbClr val="F2F4F7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87313">
              <a:buNone/>
            </a:pPr>
            <a:r>
              <a:rPr lang="en-US" sz="1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Risco de ação
</a:t>
            </a: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agente pode rodar comando, editar arquivo ou chamar ferramenta externa.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366760" y="1920240"/>
            <a:ext cx="3108960" cy="1325880"/>
          </a:xfrm>
          <a:prstGeom prst="rect">
            <a:avLst/>
          </a:prstGeom>
          <a:solidFill>
            <a:srgbClr val="F2F4F7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87313">
              <a:buNone/>
            </a:pPr>
            <a:r>
              <a:rPr lang="en-US" sz="1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Risco de revisão
</a:t>
            </a: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resultado parece coerente, mas viola contrato, regra ou decisão arquitetural.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3977640"/>
            <a:ext cx="10607040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D15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SDD organiza a intenção e a verificação.
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D15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Hooks e gates reduzem risco operacional durante a execução.
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D15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600" b="1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duas práticas se complementam; nenhuma substitui revisão humana.</a:t>
            </a:r>
            <a:endParaRPr lang="en-US" sz="1600" b="1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688775" y="6556248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650" dirty="0"/>
          </a:p>
        </p:txBody>
      </p:sp>
      <p:sp>
        <p:nvSpPr>
          <p:cNvPr id="3" name="Text 1"/>
          <p:cNvSpPr/>
          <p:nvPr/>
        </p:nvSpPr>
        <p:spPr>
          <a:xfrm>
            <a:off x="640080" y="48463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D15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INSTRUÇÃO E BLOQUEIO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640079" y="804672"/>
            <a:ext cx="11048695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F2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Arquivo de regras não equivale a mecanismo de segurança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508760"/>
            <a:ext cx="1920240" cy="484632"/>
          </a:xfrm>
          <a:prstGeom prst="rect">
            <a:avLst/>
          </a:prstGeom>
          <a:solidFill>
            <a:srgbClr val="EEF2F6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Critério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560320" y="1508760"/>
            <a:ext cx="4389120" cy="484632"/>
          </a:xfrm>
          <a:prstGeom prst="rect">
            <a:avLst/>
          </a:prstGeom>
          <a:solidFill>
            <a:srgbClr val="EEF2F6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Arquivo de instrução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949440" y="1508760"/>
            <a:ext cx="4572000" cy="484632"/>
          </a:xfrm>
          <a:prstGeom prst="rect">
            <a:avLst/>
          </a:prstGeom>
          <a:solidFill>
            <a:srgbClr val="EEF2F6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 de agente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1993392"/>
            <a:ext cx="1920240" cy="484632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Onde atua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560320" y="1993392"/>
            <a:ext cx="4389120" cy="484632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Dentro do contexto do modelo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949440" y="1993392"/>
            <a:ext cx="4572000" cy="484632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Fora do modelo, antes da ação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2478024"/>
            <a:ext cx="1920240" cy="484632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Natureza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560320" y="2478024"/>
            <a:ext cx="4389120" cy="484632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Probabilística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949440" y="2478024"/>
            <a:ext cx="4572000" cy="484632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Determinística quando a IDE/agente suporta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080" y="2962656"/>
            <a:ext cx="1920240" cy="484632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560320" y="2962656"/>
            <a:ext cx="4389120" cy="484632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Tokens de contexto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949440" y="2962656"/>
            <a:ext cx="4572000" cy="484632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Milissegundos de CPU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0080" y="3447288"/>
            <a:ext cx="1920240" cy="484632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Função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560320" y="3447288"/>
            <a:ext cx="4389120" cy="484632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Orientar proposta do agente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949440" y="3447288"/>
            <a:ext cx="4572000" cy="484632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Bloquear, confirmar ou liberar ações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0080" y="4434840"/>
            <a:ext cx="105156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instrução melhora o comportamento esperado. O hook estabelece um piso de segurança para as ferramentas que consegue interceptar.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0080" y="5074920"/>
            <a:ext cx="1088136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VS Code, essa distinção é central: o editor não oferece, por si só, a mesma interceptação de ferramentas disponível em Cursor ou Claude Code.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688775" y="6556248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650" dirty="0"/>
          </a:p>
        </p:txBody>
      </p:sp>
      <p:sp>
        <p:nvSpPr>
          <p:cNvPr id="3" name="Text 1"/>
          <p:cNvSpPr/>
          <p:nvPr/>
        </p:nvSpPr>
        <p:spPr>
          <a:xfrm>
            <a:off x="640080" y="48463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D15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HOOKS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640080" y="804672"/>
            <a:ext cx="768096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F2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Ciclo de vida de uma ação interceptada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85800" y="1828800"/>
            <a:ext cx="1691640" cy="1508760"/>
          </a:xfrm>
          <a:prstGeom prst="rect">
            <a:avLst/>
          </a:prstGeom>
          <a:solidFill>
            <a:srgbClr val="F2F4F7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marL="87313">
              <a:buNone/>
            </a:pPr>
            <a:r>
              <a:rPr lang="en-US" sz="1600" b="1" dirty="0">
                <a:solidFill>
                  <a:srgbClr val="D15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
</a:t>
            </a:r>
            <a:r>
              <a:rPr lang="en-US" sz="1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Pedido
</a:t>
            </a: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aluno pede uma ação ao agente.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404872" y="2578608"/>
            <a:ext cx="310896" cy="0"/>
          </a:xfrm>
          <a:prstGeom prst="line">
            <a:avLst/>
          </a:prstGeom>
          <a:noFill/>
          <a:ln w="16510">
            <a:solidFill>
              <a:srgbClr val="D8DEE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 sz="1600"/>
          </a:p>
        </p:txBody>
      </p:sp>
      <p:sp>
        <p:nvSpPr>
          <p:cNvPr id="7" name="Text 5"/>
          <p:cNvSpPr/>
          <p:nvPr/>
        </p:nvSpPr>
        <p:spPr>
          <a:xfrm>
            <a:off x="2788920" y="1828800"/>
            <a:ext cx="1691640" cy="1508760"/>
          </a:xfrm>
          <a:prstGeom prst="rect">
            <a:avLst/>
          </a:prstGeom>
          <a:solidFill>
            <a:srgbClr val="F2F4F7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marL="87313">
              <a:buNone/>
            </a:pPr>
            <a:r>
              <a:rPr lang="en-US" sz="1600" b="1" dirty="0">
                <a:solidFill>
                  <a:srgbClr val="D15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
</a:t>
            </a:r>
            <a:r>
              <a:rPr lang="en-US" sz="1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Ferramenta
</a:t>
            </a: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modelo decide executar shell, leitura, edição ou MCP.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07992" y="2578608"/>
            <a:ext cx="310896" cy="0"/>
          </a:xfrm>
          <a:prstGeom prst="line">
            <a:avLst/>
          </a:prstGeom>
          <a:noFill/>
          <a:ln w="16510">
            <a:solidFill>
              <a:srgbClr val="D8DEE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 sz="1600"/>
          </a:p>
        </p:txBody>
      </p:sp>
      <p:sp>
        <p:nvSpPr>
          <p:cNvPr id="9" name="Text 7"/>
          <p:cNvSpPr/>
          <p:nvPr/>
        </p:nvSpPr>
        <p:spPr>
          <a:xfrm>
            <a:off x="4892040" y="1828800"/>
            <a:ext cx="1691640" cy="1508760"/>
          </a:xfrm>
          <a:prstGeom prst="rect">
            <a:avLst/>
          </a:prstGeom>
          <a:solidFill>
            <a:srgbClr val="F2F4F7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marL="87313">
              <a:buNone/>
            </a:pPr>
            <a:r>
              <a:rPr lang="en-US" sz="1600" b="1" dirty="0">
                <a:solidFill>
                  <a:srgbClr val="D15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
</a:t>
            </a:r>
            <a:r>
              <a:rPr lang="en-US" sz="1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
</a:t>
            </a: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programa externo recebe o payload da ação.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611112" y="2578608"/>
            <a:ext cx="310896" cy="0"/>
          </a:xfrm>
          <a:prstGeom prst="line">
            <a:avLst/>
          </a:prstGeom>
          <a:noFill/>
          <a:ln w="16510">
            <a:solidFill>
              <a:srgbClr val="D8DEE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 sz="1600"/>
          </a:p>
        </p:txBody>
      </p:sp>
      <p:sp>
        <p:nvSpPr>
          <p:cNvPr id="11" name="Text 9"/>
          <p:cNvSpPr/>
          <p:nvPr/>
        </p:nvSpPr>
        <p:spPr>
          <a:xfrm>
            <a:off x="6995160" y="1828800"/>
            <a:ext cx="1691640" cy="1508760"/>
          </a:xfrm>
          <a:prstGeom prst="rect">
            <a:avLst/>
          </a:prstGeom>
          <a:solidFill>
            <a:srgbClr val="F2F4F7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marL="87313">
              <a:buNone/>
            </a:pPr>
            <a:r>
              <a:rPr lang="en-US" sz="1600" b="1" dirty="0">
                <a:solidFill>
                  <a:srgbClr val="D15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
</a:t>
            </a:r>
            <a:r>
              <a:rPr lang="en-US" sz="1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Veredito
</a:t>
            </a: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allow, ask ou deny.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714232" y="2578608"/>
            <a:ext cx="310896" cy="0"/>
          </a:xfrm>
          <a:prstGeom prst="line">
            <a:avLst/>
          </a:prstGeom>
          <a:noFill/>
          <a:ln w="16510">
            <a:solidFill>
              <a:srgbClr val="D8DEE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 sz="1600"/>
          </a:p>
        </p:txBody>
      </p:sp>
      <p:sp>
        <p:nvSpPr>
          <p:cNvPr id="13" name="Text 11"/>
          <p:cNvSpPr/>
          <p:nvPr/>
        </p:nvSpPr>
        <p:spPr>
          <a:xfrm>
            <a:off x="9098279" y="1828800"/>
            <a:ext cx="1944189" cy="1508760"/>
          </a:xfrm>
          <a:prstGeom prst="rect">
            <a:avLst/>
          </a:prstGeom>
          <a:solidFill>
            <a:srgbClr val="F2F4F7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marL="87313">
              <a:buNone/>
            </a:pPr>
            <a:r>
              <a:rPr lang="en-US" sz="1600" b="1" dirty="0">
                <a:solidFill>
                  <a:srgbClr val="D15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
</a:t>
            </a:r>
            <a:r>
              <a:rPr lang="en-US" sz="1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
</a:t>
            </a: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ação executa, pede confirmação ou é bloqueada.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85800" y="4251960"/>
            <a:ext cx="105156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motivo do bloqueio deve voltar ao agente. Assim, ele tende a buscar um caminho aceitável em vez de repetir a ação negada.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688775" y="6556248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650" dirty="0"/>
          </a:p>
        </p:txBody>
      </p:sp>
      <p:sp>
        <p:nvSpPr>
          <p:cNvPr id="3" name="Text 1"/>
          <p:cNvSpPr/>
          <p:nvPr/>
        </p:nvSpPr>
        <p:spPr>
          <a:xfrm>
            <a:off x="640080" y="48463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D15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MATRIZ DE DECISÃO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640080" y="804672"/>
            <a:ext cx="8843554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F2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Três vereditos para autonomia controlada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3154680" cy="1325880"/>
          </a:xfrm>
          <a:prstGeom prst="rect">
            <a:avLst/>
          </a:prstGeom>
          <a:solidFill>
            <a:srgbClr val="EAF6EE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87313">
              <a:buNone/>
            </a:pPr>
            <a:r>
              <a:rPr lang="en-US" sz="1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allow
</a:t>
            </a: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Operações de leitura, análise e verificação. Ex.: testes, lint, status do Git.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26280" y="1554480"/>
            <a:ext cx="3154680" cy="1325880"/>
          </a:xfrm>
          <a:prstGeom prst="rect">
            <a:avLst/>
          </a:prstGeom>
          <a:solidFill>
            <a:srgbClr val="FFF6D8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87313">
              <a:buNone/>
            </a:pPr>
            <a:r>
              <a:rPr lang="en-US" sz="1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
</a:t>
            </a: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Operações legítimas com custo de reversão. Ex.: commit, push, migration.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321040" y="1554480"/>
            <a:ext cx="3154680" cy="1325880"/>
          </a:xfrm>
          <a:prstGeom prst="rect">
            <a:avLst/>
          </a:prstGeom>
          <a:solidFill>
            <a:srgbClr val="FCEBED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87313">
              <a:buNone/>
            </a:pPr>
            <a:r>
              <a:rPr lang="en-US" sz="1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deny
</a:t>
            </a: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Operações destrutivas ou exposição de segredo. Ex.: DROP, truncate, .env, push force.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3657600"/>
            <a:ext cx="4023360" cy="338328"/>
          </a:xfrm>
          <a:prstGeom prst="rect">
            <a:avLst/>
          </a:prstGeom>
          <a:solidFill>
            <a:srgbClr val="EEF2F6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Exemplo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754880" y="3657600"/>
            <a:ext cx="1828800" cy="338328"/>
          </a:xfrm>
          <a:prstGeom prst="rect">
            <a:avLst/>
          </a:prstGeom>
          <a:solidFill>
            <a:srgbClr val="EEF2F6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Veredito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583680" y="3657600"/>
            <a:ext cx="4754880" cy="338328"/>
          </a:xfrm>
          <a:prstGeom prst="rect">
            <a:avLst/>
          </a:prstGeom>
          <a:solidFill>
            <a:srgbClr val="EEF2F6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Justificativa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3995928"/>
            <a:ext cx="4023360" cy="338328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npm ci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754880" y="3995928"/>
            <a:ext cx="1828800" cy="338328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allow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83680" y="3995928"/>
            <a:ext cx="4754880" cy="338328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Instala dependências a partir do lockfile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31520" y="4334256"/>
            <a:ext cx="4023360" cy="338328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npm install pacote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754880" y="4334256"/>
            <a:ext cx="1828800" cy="338328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583680" y="4334256"/>
            <a:ext cx="4754880" cy="338328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Altera dependências do projeto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31520" y="4672584"/>
            <a:ext cx="4023360" cy="338328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 .env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754880" y="4672584"/>
            <a:ext cx="1828800" cy="338328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deny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583680" y="4672584"/>
            <a:ext cx="4754880" cy="338328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Expõe segredo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31520" y="5010912"/>
            <a:ext cx="4023360" cy="338328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 TABLE users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754880" y="5010912"/>
            <a:ext cx="1828800" cy="338328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deny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583680" y="5010912"/>
            <a:ext cx="4754880" cy="338328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Destrói estrutura de dados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688775" y="6556248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650" dirty="0"/>
          </a:p>
        </p:txBody>
      </p:sp>
      <p:sp>
        <p:nvSpPr>
          <p:cNvPr id="3" name="Text 1"/>
          <p:cNvSpPr/>
          <p:nvPr/>
        </p:nvSpPr>
        <p:spPr>
          <a:xfrm>
            <a:off x="640080" y="48463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D15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LIMITAÇÕES POR AMBIENTE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640080" y="804672"/>
            <a:ext cx="768096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F2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caso específico do VS Code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02920" y="1783080"/>
            <a:ext cx="2148840" cy="525780"/>
          </a:xfrm>
          <a:prstGeom prst="rect">
            <a:avLst/>
          </a:prstGeom>
          <a:solidFill>
            <a:srgbClr val="EEF2F6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Capacidade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651760" y="1783080"/>
            <a:ext cx="1508760" cy="525780"/>
          </a:xfrm>
          <a:prstGeom prst="rect">
            <a:avLst/>
          </a:prstGeom>
          <a:solidFill>
            <a:srgbClr val="EEF2F6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Cursor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160520" y="1783080"/>
            <a:ext cx="1645920" cy="525780"/>
          </a:xfrm>
          <a:prstGeom prst="rect">
            <a:avLst/>
          </a:prstGeom>
          <a:solidFill>
            <a:srgbClr val="EEF2F6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806440" y="1783080"/>
            <a:ext cx="2971800" cy="525780"/>
          </a:xfrm>
          <a:prstGeom prst="rect">
            <a:avLst/>
          </a:prstGeom>
          <a:solidFill>
            <a:srgbClr val="EEF2F6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Code com agente que possui hook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778240" y="1783080"/>
            <a:ext cx="2926080" cy="525780"/>
          </a:xfrm>
          <a:prstGeom prst="rect">
            <a:avLst/>
          </a:prstGeom>
          <a:solidFill>
            <a:srgbClr val="EEF2F6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Code com Copilot/agente sem hook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" y="2308860"/>
            <a:ext cx="2148840" cy="525780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Bloquear shell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651760" y="2308860"/>
            <a:ext cx="1508760" cy="525780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160520" y="2308860"/>
            <a:ext cx="1645920" cy="525780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806440" y="2308860"/>
            <a:ext cx="2971800" cy="525780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778240" y="2308860"/>
            <a:ext cx="2926080" cy="525780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Confirmação manual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02920" y="2834640"/>
            <a:ext cx="2148840" cy="525780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Bloquear leitura de segredo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651760" y="2834640"/>
            <a:ext cx="1508760" cy="525780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160520" y="2834640"/>
            <a:ext cx="1645920" cy="525780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806440" y="2834640"/>
            <a:ext cx="2971800" cy="525780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778240" y="2834640"/>
            <a:ext cx="2926080" cy="525780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02920" y="3360420"/>
            <a:ext cx="2148840" cy="525780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Bloquear edição de arquivo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2651760" y="3360420"/>
            <a:ext cx="1508760" cy="525780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Limitado: pós-edição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160520" y="3360420"/>
            <a:ext cx="1645920" cy="525780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806440" y="3360420"/>
            <a:ext cx="2971800" cy="525780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Sim, pelo agente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778240" y="3360420"/>
            <a:ext cx="2926080" cy="525780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02920" y="3886200"/>
            <a:ext cx="2148840" cy="525780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Bloquear MCP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2651760" y="3886200"/>
            <a:ext cx="1508760" cy="525780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160520" y="3886200"/>
            <a:ext cx="1645920" cy="525780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806440" y="3886200"/>
            <a:ext cx="2971800" cy="525780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778240" y="3886200"/>
            <a:ext cx="2926080" cy="525780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02920" y="4411980"/>
            <a:ext cx="2148840" cy="525780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Reforço por Git hook e CI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2651760" y="4411980"/>
            <a:ext cx="1508760" cy="525780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Recomendado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4160520" y="4411980"/>
            <a:ext cx="1645920" cy="525780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Recomendado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806440" y="4411980"/>
            <a:ext cx="2971800" cy="525780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Recomendado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778240" y="4411980"/>
            <a:ext cx="2926080" cy="525780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Obrigatório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594360" y="5257800"/>
            <a:ext cx="107899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VS Code, quem define a existência de hook é o agente executado dentro do ambiente, não o editor em si.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688775" y="6556248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650" dirty="0"/>
          </a:p>
        </p:txBody>
      </p:sp>
      <p:sp>
        <p:nvSpPr>
          <p:cNvPr id="3" name="Text 1"/>
          <p:cNvSpPr/>
          <p:nvPr/>
        </p:nvSpPr>
        <p:spPr>
          <a:xfrm>
            <a:off x="640080" y="48463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D15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DEFESA EM CAMADAS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640080" y="804672"/>
            <a:ext cx="10245634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F2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Governança não deve depender de uma única barreira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1691640"/>
            <a:ext cx="2331720" cy="1536192"/>
          </a:xfrm>
          <a:prstGeom prst="rect">
            <a:avLst/>
          </a:prstGeom>
          <a:solidFill>
            <a:srgbClr val="F2F4F7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marL="87313">
              <a:buNone/>
            </a:pPr>
            <a:r>
              <a:rPr lang="en-US" sz="1600" b="1" dirty="0">
                <a:solidFill>
                  <a:srgbClr val="D15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
</a:t>
            </a:r>
            <a:r>
              <a:rPr lang="en-US" sz="1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Instrução no repositório
</a:t>
            </a: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Orienta o agente antes de propor a ação.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154680" y="2331720"/>
            <a:ext cx="594360" cy="0"/>
          </a:xfrm>
          <a:prstGeom prst="line">
            <a:avLst/>
          </a:prstGeom>
          <a:noFill/>
          <a:ln w="16510">
            <a:solidFill>
              <a:srgbClr val="D8DEE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 sz="1600"/>
          </a:p>
        </p:txBody>
      </p:sp>
      <p:sp>
        <p:nvSpPr>
          <p:cNvPr id="7" name="Text 5"/>
          <p:cNvSpPr/>
          <p:nvPr/>
        </p:nvSpPr>
        <p:spPr>
          <a:xfrm>
            <a:off x="3840480" y="1691640"/>
            <a:ext cx="2331720" cy="1536192"/>
          </a:xfrm>
          <a:prstGeom prst="rect">
            <a:avLst/>
          </a:prstGeom>
          <a:solidFill>
            <a:srgbClr val="F2F4F7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marL="87313">
              <a:buNone/>
            </a:pPr>
            <a:r>
              <a:rPr lang="en-US" sz="1600" b="1" dirty="0">
                <a:solidFill>
                  <a:srgbClr val="D15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
</a:t>
            </a:r>
            <a:r>
              <a:rPr lang="en-US" sz="1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 de agente
</a:t>
            </a: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Intercepta ação quando houver suporte da ferramenta.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63640" y="2331720"/>
            <a:ext cx="594360" cy="0"/>
          </a:xfrm>
          <a:prstGeom prst="line">
            <a:avLst/>
          </a:prstGeom>
          <a:noFill/>
          <a:ln w="16510">
            <a:solidFill>
              <a:srgbClr val="D8DEE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 sz="1600"/>
          </a:p>
        </p:txBody>
      </p:sp>
      <p:sp>
        <p:nvSpPr>
          <p:cNvPr id="9" name="Text 7"/>
          <p:cNvSpPr/>
          <p:nvPr/>
        </p:nvSpPr>
        <p:spPr>
          <a:xfrm>
            <a:off x="6949440" y="1691640"/>
            <a:ext cx="2331720" cy="1536192"/>
          </a:xfrm>
          <a:prstGeom prst="rect">
            <a:avLst/>
          </a:prstGeom>
          <a:solidFill>
            <a:srgbClr val="F2F4F7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marL="87313">
              <a:buNone/>
            </a:pPr>
            <a:r>
              <a:rPr lang="en-US" sz="1600" b="1" dirty="0">
                <a:solidFill>
                  <a:srgbClr val="D15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
</a:t>
            </a:r>
            <a:r>
              <a:rPr lang="en-US" sz="1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hook local
</a:t>
            </a: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Bloqueia antes do commit.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9372600" y="2331720"/>
            <a:ext cx="594360" cy="0"/>
          </a:xfrm>
          <a:prstGeom prst="line">
            <a:avLst/>
          </a:prstGeom>
          <a:noFill/>
          <a:ln w="16510">
            <a:solidFill>
              <a:srgbClr val="D8DEE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 sz="1600"/>
          </a:p>
        </p:txBody>
      </p:sp>
      <p:sp>
        <p:nvSpPr>
          <p:cNvPr id="11" name="Text 9"/>
          <p:cNvSpPr/>
          <p:nvPr/>
        </p:nvSpPr>
        <p:spPr>
          <a:xfrm>
            <a:off x="10058400" y="1691640"/>
            <a:ext cx="1600200" cy="1536192"/>
          </a:xfrm>
          <a:prstGeom prst="rect">
            <a:avLst/>
          </a:prstGeom>
          <a:solidFill>
            <a:srgbClr val="F2F4F7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marL="87313">
              <a:buNone/>
            </a:pPr>
            <a:r>
              <a:rPr lang="en-US" sz="1600" b="1" dirty="0">
                <a:solidFill>
                  <a:srgbClr val="D15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
</a:t>
            </a:r>
            <a:r>
              <a:rPr lang="en-US" sz="1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 e revisão
</a:t>
            </a: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Bloqueia antes do merge.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1520" y="3794760"/>
            <a:ext cx="10789920" cy="1188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D15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alunos em VS Code sem hook de ferramenta, a camada 3 e a camada 4 se tornam obrigatórias.
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D15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Comandos perigosos, leitura de segredos e alterações em dependências devem ter política explícita.
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D15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equipe deve testar a política antes de confiar nela.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C146D7-1DC1-4BB8-ED72-D3E2C83DD0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D15D973-EE7D-5DFA-889F-4E8884B0E56E}"/>
              </a:ext>
            </a:extLst>
          </p:cNvPr>
          <p:cNvSpPr/>
          <p:nvPr/>
        </p:nvSpPr>
        <p:spPr>
          <a:xfrm>
            <a:off x="11688775" y="6556248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65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81E7B6A-DF97-A910-0F5C-D81329139C7E}"/>
              </a:ext>
            </a:extLst>
          </p:cNvPr>
          <p:cNvSpPr/>
          <p:nvPr/>
        </p:nvSpPr>
        <p:spPr>
          <a:xfrm>
            <a:off x="0" y="2674620"/>
            <a:ext cx="1219169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D15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MODELAGEM DE SOFTWARE - SEMANA 6</a:t>
            </a:r>
            <a:endParaRPr lang="en-US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8917FE4-BD20-538A-459E-DBC55408CE3E}"/>
              </a:ext>
            </a:extLst>
          </p:cNvPr>
          <p:cNvSpPr/>
          <p:nvPr/>
        </p:nvSpPr>
        <p:spPr>
          <a:xfrm>
            <a:off x="0" y="2999232"/>
            <a:ext cx="121916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 err="1">
                <a:solidFill>
                  <a:srgbClr val="1F2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Configuração</a:t>
            </a:r>
            <a:r>
              <a:rPr lang="en-US" sz="3200" b="1" dirty="0">
                <a:solidFill>
                  <a:srgbClr val="1F2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da IDE para </a:t>
            </a:r>
            <a:r>
              <a:rPr lang="en-US" sz="3200" b="1" dirty="0" err="1">
                <a:solidFill>
                  <a:srgbClr val="1F2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Agentes</a:t>
            </a:r>
            <a:endParaRPr lang="en-US" sz="32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298EF5D-7C32-E007-F4F2-5528745DF752}"/>
              </a:ext>
            </a:extLst>
          </p:cNvPr>
          <p:cNvSpPr/>
          <p:nvPr/>
        </p:nvSpPr>
        <p:spPr>
          <a:xfrm>
            <a:off x="0" y="3566160"/>
            <a:ext cx="121916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5B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Modelagem, especificação, governança de agentes e laboratório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54672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688775" y="6556248"/>
            <a:ext cx="228600" cy="146304"/>
          </a:xfrm>
          <a:prstGeom prst="rect">
            <a:avLst/>
          </a:prstGeom>
          <a:noFill/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8580" rtlCol="0" anchor="ctr"/>
          <a:lstStyle/>
          <a:p>
            <a:pPr algn="ctr"/>
            <a:r>
              <a:rPr sz="650" b="0">
                <a:solidFill>
                  <a:srgbClr val="111111"/>
                </a:solidFill>
                <a:latin typeface="Arial"/>
              </a:rPr>
              <a:t>20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484632"/>
            <a:ext cx="9000000" cy="164592"/>
          </a:xfrm>
          <a:prstGeom prst="rect">
            <a:avLst/>
          </a:prstGeom>
          <a:noFill/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8580" rtlCol="0" anchor="ctr"/>
          <a:lstStyle/>
          <a:p>
            <a:r>
              <a:rPr sz="650" b="1" dirty="0">
                <a:solidFill>
                  <a:srgbClr val="D1505B"/>
                </a:solidFill>
                <a:latin typeface="Arial"/>
              </a:rPr>
              <a:t>FERRAMENTAS DO AGENTE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04672"/>
            <a:ext cx="10800000" cy="380000"/>
          </a:xfrm>
          <a:prstGeom prst="rect">
            <a:avLst/>
          </a:prstGeom>
          <a:noFill/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8580" rtlCol="0" anchor="ctr"/>
          <a:lstStyle/>
          <a:p>
            <a:r>
              <a:rPr sz="2800" b="1" dirty="0">
                <a:solidFill>
                  <a:srgbClr val="1F2933"/>
                </a:solidFill>
                <a:latin typeface="Georgia"/>
              </a:rPr>
              <a:t>O </a:t>
            </a:r>
            <a:r>
              <a:rPr sz="2800" b="1" dirty="0" err="1">
                <a:solidFill>
                  <a:srgbClr val="1F2933"/>
                </a:solidFill>
                <a:latin typeface="Georgia"/>
              </a:rPr>
              <a:t>que</a:t>
            </a:r>
            <a:r>
              <a:rPr sz="2800" b="1" dirty="0">
                <a:solidFill>
                  <a:srgbClr val="1F2933"/>
                </a:solidFill>
                <a:latin typeface="Georgia"/>
              </a:rPr>
              <a:t> é MCP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26423"/>
            <a:ext cx="10800000" cy="320000"/>
          </a:xfrm>
          <a:prstGeom prst="rect">
            <a:avLst/>
          </a:prstGeom>
          <a:noFill/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8580" rtlCol="0" anchor="ctr"/>
          <a:lstStyle/>
          <a:p>
            <a:r>
              <a:rPr sz="1600" b="0" dirty="0">
                <a:solidFill>
                  <a:srgbClr val="5B6673"/>
                </a:solidFill>
                <a:latin typeface="Arial"/>
              </a:rPr>
              <a:t>MCP (Model Context Protocol) é um </a:t>
            </a:r>
            <a:r>
              <a:rPr sz="1600" b="0" dirty="0" err="1">
                <a:solidFill>
                  <a:srgbClr val="5B6673"/>
                </a:solidFill>
                <a:latin typeface="Arial"/>
              </a:rPr>
              <a:t>padrão</a:t>
            </a:r>
            <a:r>
              <a:rPr sz="1600" b="0" dirty="0">
                <a:solidFill>
                  <a:srgbClr val="5B6673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5B6673"/>
                </a:solidFill>
                <a:latin typeface="Arial"/>
              </a:rPr>
              <a:t>aberto</a:t>
            </a:r>
            <a:r>
              <a:rPr sz="1600" b="0" dirty="0">
                <a:solidFill>
                  <a:srgbClr val="5B6673"/>
                </a:solidFill>
                <a:latin typeface="Arial"/>
              </a:rPr>
              <a:t> para o </a:t>
            </a:r>
            <a:r>
              <a:rPr sz="1600" b="0" dirty="0" err="1">
                <a:solidFill>
                  <a:srgbClr val="5B6673"/>
                </a:solidFill>
                <a:latin typeface="Arial"/>
              </a:rPr>
              <a:t>agente</a:t>
            </a:r>
            <a:r>
              <a:rPr sz="1600" b="0" dirty="0">
                <a:solidFill>
                  <a:srgbClr val="5B6673"/>
                </a:solidFill>
                <a:latin typeface="Arial"/>
              </a:rPr>
              <a:t> usar ferramentas </a:t>
            </a:r>
            <a:r>
              <a:rPr sz="1600" b="0" dirty="0" err="1">
                <a:solidFill>
                  <a:srgbClr val="5B6673"/>
                </a:solidFill>
                <a:latin typeface="Arial"/>
              </a:rPr>
              <a:t>externas</a:t>
            </a:r>
            <a:r>
              <a:rPr lang="pt-BR" sz="1600" dirty="0">
                <a:solidFill>
                  <a:srgbClr val="5B6673"/>
                </a:solidFill>
                <a:latin typeface="Arial"/>
              </a:rPr>
              <a:t>:</a:t>
            </a:r>
            <a:br>
              <a:rPr lang="pt-BR" sz="1600" dirty="0">
                <a:solidFill>
                  <a:srgbClr val="5B6673"/>
                </a:solidFill>
                <a:latin typeface="Arial"/>
              </a:rPr>
            </a:br>
            <a:r>
              <a:rPr sz="1600" b="0" dirty="0">
                <a:solidFill>
                  <a:srgbClr val="5B6673"/>
                </a:solidFill>
                <a:latin typeface="Arial"/>
              </a:rPr>
              <a:t>banco, GitHub, S3, SSH</a:t>
            </a:r>
            <a:r>
              <a:rPr lang="pt-BR" sz="1600" b="0" dirty="0">
                <a:solidFill>
                  <a:srgbClr val="5B6673"/>
                </a:solidFill>
                <a:latin typeface="Arial"/>
              </a:rPr>
              <a:t>, </a:t>
            </a:r>
            <a:r>
              <a:rPr sz="1600" b="0" dirty="0" err="1">
                <a:solidFill>
                  <a:srgbClr val="5B6673"/>
                </a:solidFill>
                <a:latin typeface="Arial"/>
              </a:rPr>
              <a:t>sem</a:t>
            </a:r>
            <a:r>
              <a:rPr sz="1600" b="0" dirty="0">
                <a:solidFill>
                  <a:srgbClr val="5B6673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5B6673"/>
                </a:solidFill>
                <a:latin typeface="Arial"/>
              </a:rPr>
              <a:t>colocar</a:t>
            </a:r>
            <a:r>
              <a:rPr sz="1600" b="0" dirty="0">
                <a:solidFill>
                  <a:srgbClr val="5B6673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5B6673"/>
                </a:solidFill>
                <a:latin typeface="Arial"/>
              </a:rPr>
              <a:t>senha</a:t>
            </a:r>
            <a:r>
              <a:rPr sz="1600" b="0" dirty="0">
                <a:solidFill>
                  <a:srgbClr val="5B6673"/>
                </a:solidFill>
                <a:latin typeface="Arial"/>
              </a:rPr>
              <a:t> no prompt.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96498"/>
            <a:ext cx="3444240" cy="2000000"/>
          </a:xfrm>
          <a:prstGeom prst="rect">
            <a:avLst/>
          </a:prstGeom>
          <a:solidFill>
            <a:srgbClr val="F2F4F7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8580" rtlCol="0" anchor="ctr"/>
          <a:lstStyle/>
          <a:p>
            <a:pPr algn="ctr"/>
            <a:r>
              <a:rPr sz="1600" b="1">
                <a:solidFill>
                  <a:srgbClr val="1F2933"/>
                </a:solidFill>
                <a:latin typeface="Arial"/>
              </a:rPr>
              <a:t>O que conecta
</a:t>
            </a:r>
            <a:r>
              <a:rPr sz="1600" b="0">
                <a:solidFill>
                  <a:srgbClr val="2B3440"/>
                </a:solidFill>
                <a:latin typeface="Arial"/>
              </a:rPr>
              <a:t>O modelo de linguagem não acessa MySQL ou S3 sozinho. Um servidor MCP expõe ferramentas que o harness pode chamar.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130040" y="2196498"/>
            <a:ext cx="3444240" cy="2000000"/>
          </a:xfrm>
          <a:prstGeom prst="rect">
            <a:avLst/>
          </a:prstGeom>
          <a:solidFill>
            <a:srgbClr val="F2F4F7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8580" rtlCol="0" anchor="ctr"/>
          <a:lstStyle/>
          <a:p>
            <a:pPr algn="ctr"/>
            <a:r>
              <a:rPr sz="1600" b="1">
                <a:solidFill>
                  <a:srgbClr val="1F2933"/>
                </a:solidFill>
                <a:latin typeface="Arial"/>
              </a:rPr>
              <a:t>O que não é
</a:t>
            </a:r>
            <a:r>
              <a:rPr sz="1600" b="0">
                <a:solidFill>
                  <a:srgbClr val="2B3440"/>
                </a:solidFill>
                <a:latin typeface="Arial"/>
              </a:rPr>
              <a:t>Não é a Spec, não é rule e não é o harness. É só o plugue de ferramentas externas.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11440" y="2196498"/>
            <a:ext cx="3444240" cy="2000000"/>
          </a:xfrm>
          <a:prstGeom prst="rect">
            <a:avLst/>
          </a:prstGeom>
          <a:solidFill>
            <a:srgbClr val="F2F4F7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8580" rtlCol="0" anchor="ctr"/>
          <a:lstStyle/>
          <a:p>
            <a:pPr algn="ctr"/>
            <a:r>
              <a:rPr sz="1600" b="1">
                <a:solidFill>
                  <a:srgbClr val="1F2933"/>
                </a:solidFill>
                <a:latin typeface="Arial"/>
              </a:rPr>
              <a:t>Como o aluno usa
</a:t>
            </a:r>
            <a:r>
              <a:rPr sz="1600" b="0">
                <a:solidFill>
                  <a:srgbClr val="2B3440"/>
                </a:solidFill>
                <a:latin typeface="Arial"/>
              </a:rPr>
              <a:t>Arquivos no repositório descrevem os servidores. A IDE sobe os processos ao abrir o projeto.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5000000"/>
            <a:ext cx="10800000" cy="420000"/>
          </a:xfrm>
          <a:prstGeom prst="rect">
            <a:avLst/>
          </a:prstGeom>
          <a:noFill/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8580" rtlCol="0" anchor="ctr"/>
          <a:lstStyle/>
          <a:p>
            <a:pPr algn="ctr"/>
            <a:r>
              <a:rPr sz="1400" b="1" dirty="0">
                <a:solidFill>
                  <a:srgbClr val="D1505B"/>
                </a:solidFill>
                <a:latin typeface="Arial"/>
              </a:rPr>
              <a:t>• </a:t>
            </a:r>
            <a:r>
              <a:rPr b="0" dirty="0">
                <a:solidFill>
                  <a:srgbClr val="EE0000"/>
                </a:solidFill>
                <a:latin typeface="Arial"/>
              </a:rPr>
              <a:t>Sem MCP, o </a:t>
            </a:r>
            <a:r>
              <a:rPr b="0" dirty="0" err="1">
                <a:solidFill>
                  <a:srgbClr val="EE0000"/>
                </a:solidFill>
                <a:latin typeface="Arial"/>
              </a:rPr>
              <a:t>agente</a:t>
            </a:r>
            <a:r>
              <a:rPr b="0" dirty="0">
                <a:solidFill>
                  <a:srgbClr val="EE0000"/>
                </a:solidFill>
                <a:latin typeface="Arial"/>
              </a:rPr>
              <a:t> </a:t>
            </a:r>
            <a:r>
              <a:rPr b="0" dirty="0" err="1">
                <a:solidFill>
                  <a:srgbClr val="EE0000"/>
                </a:solidFill>
                <a:latin typeface="Arial"/>
              </a:rPr>
              <a:t>só</a:t>
            </a:r>
            <a:r>
              <a:rPr b="0" dirty="0">
                <a:solidFill>
                  <a:srgbClr val="EE0000"/>
                </a:solidFill>
                <a:latin typeface="Arial"/>
              </a:rPr>
              <a:t> </a:t>
            </a:r>
            <a:r>
              <a:rPr b="0" dirty="0" err="1">
                <a:solidFill>
                  <a:srgbClr val="EE0000"/>
                </a:solidFill>
                <a:latin typeface="Arial"/>
              </a:rPr>
              <a:t>vê</a:t>
            </a:r>
            <a:r>
              <a:rPr b="0" dirty="0">
                <a:solidFill>
                  <a:srgbClr val="EE0000"/>
                </a:solidFill>
                <a:latin typeface="Arial"/>
              </a:rPr>
              <a:t> o </a:t>
            </a:r>
            <a:r>
              <a:rPr b="0" dirty="0" err="1">
                <a:solidFill>
                  <a:srgbClr val="EE0000"/>
                </a:solidFill>
                <a:latin typeface="Arial"/>
              </a:rPr>
              <a:t>que</a:t>
            </a:r>
            <a:r>
              <a:rPr b="0" dirty="0">
                <a:solidFill>
                  <a:srgbClr val="EE0000"/>
                </a:solidFill>
                <a:latin typeface="Arial"/>
              </a:rPr>
              <a:t> </a:t>
            </a:r>
            <a:r>
              <a:rPr b="0" dirty="0" err="1">
                <a:solidFill>
                  <a:srgbClr val="EE0000"/>
                </a:solidFill>
                <a:latin typeface="Arial"/>
              </a:rPr>
              <a:t>está</a:t>
            </a:r>
            <a:r>
              <a:rPr b="0" dirty="0">
                <a:solidFill>
                  <a:srgbClr val="EE0000"/>
                </a:solidFill>
                <a:latin typeface="Arial"/>
              </a:rPr>
              <a:t> no chat e </a:t>
            </a:r>
            <a:r>
              <a:rPr b="0" dirty="0" err="1">
                <a:solidFill>
                  <a:srgbClr val="EE0000"/>
                </a:solidFill>
                <a:latin typeface="Arial"/>
              </a:rPr>
              <a:t>nos</a:t>
            </a:r>
            <a:r>
              <a:rPr b="0" dirty="0">
                <a:solidFill>
                  <a:srgbClr val="EE0000"/>
                </a:solidFill>
                <a:latin typeface="Arial"/>
              </a:rPr>
              <a:t> </a:t>
            </a:r>
            <a:r>
              <a:rPr b="0" dirty="0" err="1">
                <a:solidFill>
                  <a:srgbClr val="EE0000"/>
                </a:solidFill>
                <a:latin typeface="Arial"/>
              </a:rPr>
              <a:t>arquivos</a:t>
            </a:r>
            <a:r>
              <a:rPr b="0" dirty="0">
                <a:solidFill>
                  <a:srgbClr val="EE0000"/>
                </a:solidFill>
                <a:latin typeface="Arial"/>
              </a:rPr>
              <a:t> do workspace.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688775" y="6556248"/>
            <a:ext cx="228600" cy="146304"/>
          </a:xfrm>
          <a:prstGeom prst="rect">
            <a:avLst/>
          </a:prstGeom>
          <a:noFill/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8580" rtlCol="0" anchor="ctr"/>
          <a:lstStyle/>
          <a:p>
            <a:pPr algn="ctr"/>
            <a:r>
              <a:rPr sz="650" b="0">
                <a:solidFill>
                  <a:srgbClr val="111111"/>
                </a:solidFill>
                <a:latin typeface="Arial"/>
              </a:rPr>
              <a:t>21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484632"/>
            <a:ext cx="9000000" cy="164592"/>
          </a:xfrm>
          <a:prstGeom prst="rect">
            <a:avLst/>
          </a:prstGeom>
          <a:noFill/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8580" rtlCol="0" anchor="ctr"/>
          <a:lstStyle/>
          <a:p>
            <a:r>
              <a:rPr sz="650" b="1" dirty="0">
                <a:solidFill>
                  <a:srgbClr val="D1505B"/>
                </a:solidFill>
                <a:latin typeface="Arial"/>
              </a:rPr>
              <a:t>DOIS ARQUIVOS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04672"/>
            <a:ext cx="10800000" cy="380000"/>
          </a:xfrm>
          <a:prstGeom prst="rect">
            <a:avLst/>
          </a:prstGeom>
          <a:noFill/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8580" rtlCol="0" anchor="ctr"/>
          <a:lstStyle/>
          <a:p>
            <a:pPr algn="ctr"/>
            <a:r>
              <a:rPr sz="2800" b="1">
                <a:solidFill>
                  <a:srgbClr val="1F2933"/>
                </a:solidFill>
                <a:latin typeface="Georgia"/>
              </a:rPr>
              <a:t>mcp.json descreve ferramentas; mcp.env guarda valores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775294"/>
            <a:ext cx="2600000" cy="700000"/>
          </a:xfrm>
          <a:prstGeom prst="rect">
            <a:avLst/>
          </a:prstGeom>
          <a:solidFill>
            <a:srgbClr val="EEF2F6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8580" rtlCol="0" anchor="ctr"/>
          <a:lstStyle/>
          <a:p>
            <a:pPr algn="ctr"/>
            <a:r>
              <a:rPr sz="1600" b="1">
                <a:solidFill>
                  <a:srgbClr val="1F2933"/>
                </a:solidFill>
                <a:latin typeface="Arial"/>
              </a:rPr>
              <a:t>Arquivo</a:t>
            </a:r>
          </a:p>
        </p:txBody>
      </p:sp>
      <p:sp>
        <p:nvSpPr>
          <p:cNvPr id="6" name="Rectangle 5"/>
          <p:cNvSpPr/>
          <p:nvPr/>
        </p:nvSpPr>
        <p:spPr>
          <a:xfrm>
            <a:off x="3240080" y="1775294"/>
            <a:ext cx="5200000" cy="700000"/>
          </a:xfrm>
          <a:prstGeom prst="rect">
            <a:avLst/>
          </a:prstGeom>
          <a:solidFill>
            <a:srgbClr val="EEF2F6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8580" rtlCol="0" anchor="ctr"/>
          <a:lstStyle/>
          <a:p>
            <a:pPr algn="ctr"/>
            <a:r>
              <a:rPr sz="1600" b="1">
                <a:solidFill>
                  <a:srgbClr val="1F2933"/>
                </a:solidFill>
                <a:latin typeface="Arial"/>
              </a:rPr>
              <a:t>Função</a:t>
            </a:r>
          </a:p>
        </p:txBody>
      </p:sp>
      <p:sp>
        <p:nvSpPr>
          <p:cNvPr id="7" name="Rectangle 6"/>
          <p:cNvSpPr/>
          <p:nvPr/>
        </p:nvSpPr>
        <p:spPr>
          <a:xfrm>
            <a:off x="8440080" y="1775294"/>
            <a:ext cx="3000000" cy="700000"/>
          </a:xfrm>
          <a:prstGeom prst="rect">
            <a:avLst/>
          </a:prstGeom>
          <a:solidFill>
            <a:srgbClr val="EEF2F6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8580" rtlCol="0" anchor="ctr"/>
          <a:lstStyle/>
          <a:p>
            <a:pPr algn="ctr"/>
            <a:r>
              <a:rPr sz="1600" b="1">
                <a:solidFill>
                  <a:srgbClr val="1F2933"/>
                </a:solidFill>
                <a:latin typeface="Arial"/>
              </a:rPr>
              <a:t>Vai para o Git?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475294"/>
            <a:ext cx="2600000" cy="7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8580" rtlCol="0" anchor="ctr"/>
          <a:lstStyle/>
          <a:p>
            <a:pPr algn="ctr"/>
            <a:r>
              <a:rPr sz="1600" b="1">
                <a:solidFill>
                  <a:srgbClr val="1F2933"/>
                </a:solidFill>
                <a:latin typeface="Arial"/>
              </a:rPr>
              <a:t>mcp.json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240080" y="2475294"/>
            <a:ext cx="5200000" cy="7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8580" rtlCol="0" anchor="ctr"/>
          <a:lstStyle/>
          <a:p>
            <a:pPr algn="ctr"/>
            <a:r>
              <a:rPr sz="1600" b="0">
                <a:solidFill>
                  <a:srgbClr val="2B3440"/>
                </a:solidFill>
                <a:latin typeface="Arial"/>
              </a:rPr>
              <a:t>Quais servidores existem, comando e nomes das variáveis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40080" y="2475294"/>
            <a:ext cx="3000000" cy="7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8580" rtlCol="0" anchor="ctr"/>
          <a:lstStyle/>
          <a:p>
            <a:pPr algn="ctr"/>
            <a:r>
              <a:rPr sz="1600" b="0">
                <a:solidFill>
                  <a:srgbClr val="2B3440"/>
                </a:solidFill>
                <a:latin typeface="Arial"/>
              </a:rPr>
              <a:t>Sim — sem senha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175294"/>
            <a:ext cx="2600000" cy="7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8580" rtlCol="0" anchor="ctr"/>
          <a:lstStyle/>
          <a:p>
            <a:pPr algn="ctr"/>
            <a:r>
              <a:rPr sz="1600" b="1">
                <a:solidFill>
                  <a:srgbClr val="1F2933"/>
                </a:solidFill>
                <a:latin typeface="Arial"/>
              </a:rPr>
              <a:t>mcp.env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40080" y="3175294"/>
            <a:ext cx="5200000" cy="7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8580" rtlCol="0" anchor="ctr"/>
          <a:lstStyle/>
          <a:p>
            <a:pPr algn="ctr"/>
            <a:r>
              <a:rPr sz="1600" b="0">
                <a:solidFill>
                  <a:srgbClr val="2B3440"/>
                </a:solidFill>
                <a:latin typeface="Arial"/>
              </a:rPr>
              <a:t>Host, usuário, senha, chave (placeholders no modelo)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40080" y="3175294"/>
            <a:ext cx="3000000" cy="7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8580" rtlCol="0" anchor="ctr"/>
          <a:lstStyle/>
          <a:p>
            <a:pPr algn="ctr"/>
            <a:r>
              <a:rPr sz="1600" b="0">
                <a:solidFill>
                  <a:srgbClr val="2B3440"/>
                </a:solidFill>
                <a:latin typeface="Arial"/>
              </a:rPr>
              <a:t>Só com sua-senha / seu-host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525294"/>
            <a:ext cx="10800000" cy="420000"/>
          </a:xfrm>
          <a:prstGeom prst="rect">
            <a:avLst/>
          </a:prstGeom>
          <a:noFill/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8580" rtlCol="0" anchor="ctr"/>
          <a:lstStyle/>
          <a:p>
            <a:r>
              <a:rPr sz="1600" b="1" dirty="0">
                <a:solidFill>
                  <a:srgbClr val="D1505B"/>
                </a:solidFill>
                <a:latin typeface="Arial"/>
              </a:rPr>
              <a:t>• </a:t>
            </a:r>
            <a:r>
              <a:rPr sz="1600" b="0" dirty="0">
                <a:solidFill>
                  <a:srgbClr val="2B3440"/>
                </a:solidFill>
                <a:latin typeface="Arial"/>
              </a:rPr>
              <a:t>Na aula o </a:t>
            </a:r>
            <a:r>
              <a:rPr sz="1600" b="0" dirty="0" err="1">
                <a:solidFill>
                  <a:srgbClr val="2B3440"/>
                </a:solidFill>
                <a:latin typeface="Arial"/>
              </a:rPr>
              <a:t>modelo</a:t>
            </a:r>
            <a:r>
              <a:rPr sz="1600" b="0" dirty="0">
                <a:solidFill>
                  <a:srgbClr val="2B3440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2B3440"/>
                </a:solidFill>
                <a:latin typeface="Arial"/>
              </a:rPr>
              <a:t>usa</a:t>
            </a:r>
            <a:r>
              <a:rPr sz="1600" b="0" dirty="0">
                <a:solidFill>
                  <a:srgbClr val="2B3440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2B3440"/>
                </a:solidFill>
                <a:latin typeface="Arial"/>
              </a:rPr>
              <a:t>sua-senha</a:t>
            </a:r>
            <a:r>
              <a:rPr sz="1600" b="0" dirty="0">
                <a:solidFill>
                  <a:srgbClr val="2B3440"/>
                </a:solidFill>
                <a:latin typeface="Arial"/>
              </a:rPr>
              <a:t>, </a:t>
            </a:r>
            <a:r>
              <a:rPr sz="1600" b="0" dirty="0" err="1">
                <a:solidFill>
                  <a:srgbClr val="2B3440"/>
                </a:solidFill>
                <a:latin typeface="Arial"/>
              </a:rPr>
              <a:t>seu</a:t>
            </a:r>
            <a:r>
              <a:rPr sz="1600" b="0" dirty="0">
                <a:solidFill>
                  <a:srgbClr val="2B3440"/>
                </a:solidFill>
                <a:latin typeface="Arial"/>
              </a:rPr>
              <a:t>-host e </a:t>
            </a:r>
            <a:r>
              <a:rPr sz="1600" b="0" dirty="0" err="1">
                <a:solidFill>
                  <a:srgbClr val="2B3440"/>
                </a:solidFill>
                <a:latin typeface="Arial"/>
              </a:rPr>
              <a:t>sua-chave</a:t>
            </a:r>
            <a:r>
              <a:rPr sz="1600" b="0" dirty="0">
                <a:solidFill>
                  <a:srgbClr val="2B3440"/>
                </a:solidFill>
                <a:latin typeface="Arial"/>
              </a:rPr>
              <a:t>. Nunca </a:t>
            </a:r>
            <a:r>
              <a:rPr sz="1600" b="0" dirty="0" err="1">
                <a:solidFill>
                  <a:srgbClr val="2B3440"/>
                </a:solidFill>
                <a:latin typeface="Arial"/>
              </a:rPr>
              <a:t>coloque</a:t>
            </a:r>
            <a:r>
              <a:rPr sz="1600" b="0" dirty="0">
                <a:solidFill>
                  <a:srgbClr val="2B3440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2B3440"/>
                </a:solidFill>
                <a:latin typeface="Arial"/>
              </a:rPr>
              <a:t>senha</a:t>
            </a:r>
            <a:r>
              <a:rPr sz="1600" b="0" dirty="0">
                <a:solidFill>
                  <a:srgbClr val="2B3440"/>
                </a:solidFill>
                <a:latin typeface="Arial"/>
              </a:rPr>
              <a:t> real no </a:t>
            </a:r>
            <a:r>
              <a:rPr sz="1600" b="0" dirty="0" err="1">
                <a:solidFill>
                  <a:srgbClr val="2B3440"/>
                </a:solidFill>
                <a:latin typeface="Arial"/>
              </a:rPr>
              <a:t>json</a:t>
            </a:r>
            <a:r>
              <a:rPr sz="1600" b="0" dirty="0">
                <a:solidFill>
                  <a:srgbClr val="2B3440"/>
                </a:solidFill>
                <a:latin typeface="Arial"/>
              </a:rPr>
              <a:t>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688775" y="6556248"/>
            <a:ext cx="228600" cy="146304"/>
          </a:xfrm>
          <a:prstGeom prst="rect">
            <a:avLst/>
          </a:prstGeom>
          <a:noFill/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8580" rtlCol="0" anchor="ctr"/>
          <a:lstStyle/>
          <a:p>
            <a:pPr algn="ctr"/>
            <a:r>
              <a:rPr sz="650" b="0">
                <a:solidFill>
                  <a:srgbClr val="111111"/>
                </a:solidFill>
                <a:latin typeface="Arial"/>
              </a:rPr>
              <a:t>22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484632"/>
            <a:ext cx="9000000" cy="164592"/>
          </a:xfrm>
          <a:prstGeom prst="rect">
            <a:avLst/>
          </a:prstGeom>
          <a:noFill/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8580" rtlCol="0" anchor="ctr"/>
          <a:lstStyle/>
          <a:p>
            <a:r>
              <a:rPr sz="650" b="1" dirty="0">
                <a:solidFill>
                  <a:srgbClr val="D1505B"/>
                </a:solidFill>
                <a:latin typeface="Arial"/>
              </a:rPr>
              <a:t>TRÊS IDEs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04672"/>
            <a:ext cx="10800000" cy="380000"/>
          </a:xfrm>
          <a:prstGeom prst="rect">
            <a:avLst/>
          </a:prstGeom>
          <a:noFill/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8580" rtlCol="0" anchor="ctr"/>
          <a:lstStyle/>
          <a:p>
            <a:r>
              <a:rPr sz="2800" b="1" dirty="0">
                <a:solidFill>
                  <a:srgbClr val="1F2933"/>
                </a:solidFill>
                <a:latin typeface="Georgia"/>
              </a:rPr>
              <a:t>Como </a:t>
            </a:r>
            <a:r>
              <a:rPr sz="2800" b="1" dirty="0" err="1">
                <a:solidFill>
                  <a:srgbClr val="1F2933"/>
                </a:solidFill>
                <a:latin typeface="Georgia"/>
              </a:rPr>
              <a:t>ligar</a:t>
            </a:r>
            <a:r>
              <a:rPr sz="2800" b="1" dirty="0">
                <a:solidFill>
                  <a:srgbClr val="1F2933"/>
                </a:solidFill>
                <a:latin typeface="Georgia"/>
              </a:rPr>
              <a:t> </a:t>
            </a:r>
            <a:r>
              <a:rPr sz="2800" b="1" dirty="0" err="1">
                <a:solidFill>
                  <a:srgbClr val="1F2933"/>
                </a:solidFill>
                <a:latin typeface="Georgia"/>
              </a:rPr>
              <a:t>mcp.json</a:t>
            </a:r>
            <a:r>
              <a:rPr sz="2800" b="1" dirty="0">
                <a:solidFill>
                  <a:srgbClr val="1F2933"/>
                </a:solidFill>
                <a:latin typeface="Georgia"/>
              </a:rPr>
              <a:t> e </a:t>
            </a:r>
            <a:r>
              <a:rPr sz="2800" b="1" dirty="0" err="1">
                <a:solidFill>
                  <a:srgbClr val="1F2933"/>
                </a:solidFill>
                <a:latin typeface="Georgia"/>
              </a:rPr>
              <a:t>mcp.env</a:t>
            </a:r>
            <a:endParaRPr sz="2800" b="1" dirty="0">
              <a:solidFill>
                <a:srgbClr val="1F2933"/>
              </a:solidFill>
              <a:latin typeface="Georgia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2920" y="1755839"/>
            <a:ext cx="2400000" cy="780000"/>
          </a:xfrm>
          <a:prstGeom prst="rect">
            <a:avLst/>
          </a:prstGeom>
          <a:solidFill>
            <a:srgbClr val="EEF2F6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8580" rtlCol="0" anchor="ctr"/>
          <a:lstStyle/>
          <a:p>
            <a:pPr algn="ctr"/>
            <a:r>
              <a:rPr sz="1600" b="1">
                <a:solidFill>
                  <a:srgbClr val="1F2933"/>
                </a:solidFill>
                <a:latin typeface="Arial"/>
              </a:rPr>
              <a:t>IDE</a:t>
            </a:r>
          </a:p>
        </p:txBody>
      </p:sp>
      <p:sp>
        <p:nvSpPr>
          <p:cNvPr id="6" name="Rectangle 5"/>
          <p:cNvSpPr/>
          <p:nvPr/>
        </p:nvSpPr>
        <p:spPr>
          <a:xfrm>
            <a:off x="2902920" y="1755839"/>
            <a:ext cx="4000000" cy="780000"/>
          </a:xfrm>
          <a:prstGeom prst="rect">
            <a:avLst/>
          </a:prstGeom>
          <a:solidFill>
            <a:srgbClr val="EEF2F6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8580" rtlCol="0" anchor="ctr"/>
          <a:lstStyle/>
          <a:p>
            <a:pPr algn="ctr"/>
            <a:r>
              <a:rPr sz="1600" b="1">
                <a:solidFill>
                  <a:srgbClr val="1F2933"/>
                </a:solidFill>
                <a:latin typeface="Arial"/>
              </a:rPr>
              <a:t>Arquivos</a:t>
            </a:r>
          </a:p>
        </p:txBody>
      </p:sp>
      <p:sp>
        <p:nvSpPr>
          <p:cNvPr id="7" name="Rectangle 6"/>
          <p:cNvSpPr/>
          <p:nvPr/>
        </p:nvSpPr>
        <p:spPr>
          <a:xfrm>
            <a:off x="6902920" y="1755839"/>
            <a:ext cx="4200000" cy="780000"/>
          </a:xfrm>
          <a:prstGeom prst="rect">
            <a:avLst/>
          </a:prstGeom>
          <a:solidFill>
            <a:srgbClr val="EEF2F6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8580" rtlCol="0" anchor="ctr"/>
          <a:lstStyle/>
          <a:p>
            <a:pPr algn="ctr"/>
            <a:r>
              <a:rPr sz="1600" b="1">
                <a:solidFill>
                  <a:srgbClr val="1F2933"/>
                </a:solidFill>
                <a:latin typeface="Arial"/>
              </a:rPr>
              <a:t>Como json e env se ligam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535839"/>
            <a:ext cx="2400000" cy="7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8580" rtlCol="0" anchor="ctr"/>
          <a:lstStyle/>
          <a:p>
            <a:pPr algn="ctr"/>
            <a:r>
              <a:rPr sz="1600" b="1">
                <a:solidFill>
                  <a:srgbClr val="1F2933"/>
                </a:solidFill>
                <a:latin typeface="Arial"/>
              </a:rPr>
              <a:t>Cursor</a:t>
            </a:r>
          </a:p>
        </p:txBody>
      </p:sp>
      <p:sp>
        <p:nvSpPr>
          <p:cNvPr id="9" name="Rectangle 8"/>
          <p:cNvSpPr/>
          <p:nvPr/>
        </p:nvSpPr>
        <p:spPr>
          <a:xfrm>
            <a:off x="2902920" y="2535839"/>
            <a:ext cx="4000000" cy="7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8580" rtlCol="0" anchor="ctr"/>
          <a:lstStyle/>
          <a:p>
            <a:pPr algn="ctr"/>
            <a:r>
              <a:rPr sz="1600" b="0">
                <a:solidFill>
                  <a:srgbClr val="2B3440"/>
                </a:solidFill>
                <a:latin typeface="Arial"/>
              </a:rPr>
              <a:t>.cursor/mcp.json e .cursor/mcp.env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02920" y="2535839"/>
            <a:ext cx="4200000" cy="7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8580" rtlCol="0" anchor="ctr"/>
          <a:lstStyle/>
          <a:p>
            <a:pPr algn="ctr"/>
            <a:r>
              <a:rPr sz="1600" b="0">
                <a:solidFill>
                  <a:srgbClr val="2B3440"/>
                </a:solidFill>
                <a:latin typeface="Arial"/>
              </a:rPr>
              <a:t>envFile + ${env:MYSQL_HOST}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315839"/>
            <a:ext cx="2400000" cy="7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8580" rtlCol="0" anchor="ctr"/>
          <a:lstStyle/>
          <a:p>
            <a:pPr algn="ctr"/>
            <a:r>
              <a:rPr sz="1600" b="1">
                <a:solidFill>
                  <a:srgbClr val="1F2933"/>
                </a:solidFill>
                <a:latin typeface="Arial"/>
              </a:rPr>
              <a:t>Claude Code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02920" y="3315839"/>
            <a:ext cx="4000000" cy="7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8580" rtlCol="0" anchor="ctr"/>
          <a:lstStyle/>
          <a:p>
            <a:pPr algn="ctr"/>
            <a:r>
              <a:rPr sz="1600" b="0">
                <a:solidFill>
                  <a:srgbClr val="2B3440"/>
                </a:solidFill>
                <a:latin typeface="Arial"/>
              </a:rPr>
              <a:t>.mcp.json na raiz e .claude/mcp.env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902920" y="3315839"/>
            <a:ext cx="4200000" cy="7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8580" rtlCol="0" anchor="ctr"/>
          <a:lstStyle/>
          <a:p>
            <a:pPr algn="ctr"/>
            <a:r>
              <a:rPr sz="1600" b="0">
                <a:solidFill>
                  <a:srgbClr val="2B3440"/>
                </a:solidFill>
                <a:latin typeface="Arial"/>
              </a:rPr>
              <a:t>${MYSQL_HOST} no ambiente (não lê o .env sozinho)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4095839"/>
            <a:ext cx="2400000" cy="7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8580" rtlCol="0" anchor="ctr"/>
          <a:lstStyle/>
          <a:p>
            <a:pPr algn="ctr"/>
            <a:r>
              <a:rPr sz="1600" b="1">
                <a:solidFill>
                  <a:srgbClr val="1F2933"/>
                </a:solidFill>
                <a:latin typeface="Arial"/>
              </a:rPr>
              <a:t>VS Code + Copilot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902920" y="4095839"/>
            <a:ext cx="4000000" cy="7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8580" rtlCol="0" anchor="ctr"/>
          <a:lstStyle/>
          <a:p>
            <a:pPr algn="ctr"/>
            <a:r>
              <a:rPr sz="1600" b="0">
                <a:solidFill>
                  <a:srgbClr val="2B3440"/>
                </a:solidFill>
                <a:latin typeface="Arial"/>
              </a:rPr>
              <a:t>.vscode/mcp.json (chave servers) e .vscode/mcp.env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02920" y="4095839"/>
            <a:ext cx="4200000" cy="7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8580" rtlCol="0" anchor="ctr"/>
          <a:lstStyle/>
          <a:p>
            <a:pPr algn="ctr"/>
            <a:r>
              <a:rPr sz="1600" b="0">
                <a:solidFill>
                  <a:srgbClr val="2B3440"/>
                </a:solidFill>
                <a:latin typeface="Arial"/>
              </a:rPr>
              <a:t>envFile + ${env:MYSQL_HOST}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5505839"/>
            <a:ext cx="10800000" cy="420000"/>
          </a:xfrm>
          <a:prstGeom prst="rect">
            <a:avLst/>
          </a:prstGeom>
          <a:noFill/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8580" rtlCol="0" anchor="ctr"/>
          <a:lstStyle/>
          <a:p>
            <a:r>
              <a:rPr sz="1600" b="1" dirty="0">
                <a:solidFill>
                  <a:srgbClr val="D1505B"/>
                </a:solidFill>
                <a:latin typeface="Arial"/>
              </a:rPr>
              <a:t>• </a:t>
            </a:r>
            <a:r>
              <a:rPr sz="1600" b="0" dirty="0">
                <a:solidFill>
                  <a:srgbClr val="2B3440"/>
                </a:solidFill>
                <a:latin typeface="Arial"/>
              </a:rPr>
              <a:t>O </a:t>
            </a:r>
            <a:r>
              <a:rPr sz="1600" b="0" dirty="0" err="1">
                <a:solidFill>
                  <a:srgbClr val="2B3440"/>
                </a:solidFill>
                <a:latin typeface="Arial"/>
              </a:rPr>
              <a:t>json</a:t>
            </a:r>
            <a:r>
              <a:rPr sz="1600" b="0" dirty="0">
                <a:solidFill>
                  <a:srgbClr val="2B3440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2B3440"/>
                </a:solidFill>
                <a:latin typeface="Arial"/>
              </a:rPr>
              <a:t>lista</a:t>
            </a:r>
            <a:r>
              <a:rPr sz="1600" b="0" dirty="0">
                <a:solidFill>
                  <a:srgbClr val="2B3440"/>
                </a:solidFill>
                <a:latin typeface="Arial"/>
              </a:rPr>
              <a:t> ferramentas; o env </a:t>
            </a:r>
            <a:r>
              <a:rPr sz="1600" b="0" dirty="0" err="1">
                <a:solidFill>
                  <a:srgbClr val="2B3440"/>
                </a:solidFill>
                <a:latin typeface="Arial"/>
              </a:rPr>
              <a:t>preenche</a:t>
            </a:r>
            <a:r>
              <a:rPr sz="1600" b="0" dirty="0">
                <a:solidFill>
                  <a:srgbClr val="2B3440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2B3440"/>
                </a:solidFill>
                <a:latin typeface="Arial"/>
              </a:rPr>
              <a:t>valores</a:t>
            </a:r>
            <a:r>
              <a:rPr sz="1600" b="0" dirty="0">
                <a:solidFill>
                  <a:srgbClr val="2B3440"/>
                </a:solidFill>
                <a:latin typeface="Arial"/>
              </a:rPr>
              <a:t>. </a:t>
            </a:r>
            <a:r>
              <a:rPr sz="1600" b="0" dirty="0" err="1">
                <a:solidFill>
                  <a:srgbClr val="2B3440"/>
                </a:solidFill>
                <a:latin typeface="Arial"/>
              </a:rPr>
              <a:t>Os</a:t>
            </a:r>
            <a:r>
              <a:rPr sz="1600" b="0" dirty="0">
                <a:solidFill>
                  <a:srgbClr val="2B3440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2B3440"/>
                </a:solidFill>
                <a:latin typeface="Arial"/>
              </a:rPr>
              <a:t>nomes</a:t>
            </a:r>
            <a:r>
              <a:rPr sz="1600" b="0" dirty="0">
                <a:solidFill>
                  <a:srgbClr val="2B3440"/>
                </a:solidFill>
                <a:latin typeface="Arial"/>
              </a:rPr>
              <a:t> das </a:t>
            </a:r>
            <a:r>
              <a:rPr sz="1600" b="0" dirty="0" err="1">
                <a:solidFill>
                  <a:srgbClr val="2B3440"/>
                </a:solidFill>
                <a:latin typeface="Arial"/>
              </a:rPr>
              <a:t>variáveis</a:t>
            </a:r>
            <a:r>
              <a:rPr sz="1600" b="0" dirty="0">
                <a:solidFill>
                  <a:srgbClr val="2B3440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2B3440"/>
                </a:solidFill>
                <a:latin typeface="Arial"/>
              </a:rPr>
              <a:t>têm</a:t>
            </a:r>
            <a:r>
              <a:rPr sz="1600" b="0" dirty="0">
                <a:solidFill>
                  <a:srgbClr val="2B3440"/>
                </a:solidFill>
                <a:latin typeface="Arial"/>
              </a:rPr>
              <a:t> de </a:t>
            </a:r>
            <a:r>
              <a:rPr sz="1600" b="0" dirty="0" err="1">
                <a:solidFill>
                  <a:srgbClr val="2B3440"/>
                </a:solidFill>
                <a:latin typeface="Arial"/>
              </a:rPr>
              <a:t>coincidir</a:t>
            </a:r>
            <a:r>
              <a:rPr sz="1600" b="0" dirty="0">
                <a:solidFill>
                  <a:srgbClr val="2B3440"/>
                </a:solidFill>
                <a:latin typeface="Arial"/>
              </a:rPr>
              <a:t>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688775" y="6556248"/>
            <a:ext cx="228600" cy="146304"/>
          </a:xfrm>
          <a:prstGeom prst="rect">
            <a:avLst/>
          </a:prstGeom>
          <a:noFill/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8580" rtlCol="0" anchor="ctr"/>
          <a:lstStyle/>
          <a:p>
            <a:pPr algn="ctr"/>
            <a:r>
              <a:rPr sz="650" b="0">
                <a:solidFill>
                  <a:srgbClr val="111111"/>
                </a:solidFill>
                <a:latin typeface="Arial"/>
              </a:rPr>
              <a:t>23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484632"/>
            <a:ext cx="9000000" cy="164592"/>
          </a:xfrm>
          <a:prstGeom prst="rect">
            <a:avLst/>
          </a:prstGeom>
          <a:noFill/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8580" rtlCol="0" anchor="ctr"/>
          <a:lstStyle/>
          <a:p>
            <a:r>
              <a:rPr sz="650" b="1" dirty="0">
                <a:solidFill>
                  <a:srgbClr val="D1505B"/>
                </a:solidFill>
                <a:latin typeface="Arial"/>
              </a:rPr>
              <a:t>INSTRUÇÃO DO AGENTE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04672"/>
            <a:ext cx="10800000" cy="380000"/>
          </a:xfrm>
          <a:prstGeom prst="rect">
            <a:avLst/>
          </a:prstGeom>
          <a:noFill/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8580" rtlCol="0" anchor="ctr"/>
          <a:lstStyle/>
          <a:p>
            <a:r>
              <a:rPr sz="2800" b="1" dirty="0">
                <a:solidFill>
                  <a:srgbClr val="1F2933"/>
                </a:solidFill>
                <a:latin typeface="Georgia"/>
              </a:rPr>
              <a:t>Rule é </a:t>
            </a:r>
            <a:r>
              <a:rPr sz="2800" b="1" dirty="0" err="1">
                <a:solidFill>
                  <a:srgbClr val="1F2933"/>
                </a:solidFill>
                <a:latin typeface="Georgia"/>
              </a:rPr>
              <a:t>regulamento</a:t>
            </a:r>
            <a:r>
              <a:rPr sz="2800" b="1" dirty="0">
                <a:solidFill>
                  <a:srgbClr val="1F2933"/>
                </a:solidFill>
                <a:latin typeface="Georgia"/>
              </a:rPr>
              <a:t>; skill é </a:t>
            </a:r>
            <a:r>
              <a:rPr sz="2800" b="1" dirty="0" err="1">
                <a:solidFill>
                  <a:srgbClr val="1F2933"/>
                </a:solidFill>
                <a:latin typeface="Georgia"/>
              </a:rPr>
              <a:t>roteiro</a:t>
            </a:r>
            <a:endParaRPr sz="2800" b="1" dirty="0">
              <a:solidFill>
                <a:srgbClr val="1F2933"/>
              </a:solidFill>
              <a:latin typeface="Georgia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40080" y="1257472"/>
            <a:ext cx="10800000" cy="320000"/>
          </a:xfrm>
          <a:prstGeom prst="rect">
            <a:avLst/>
          </a:prstGeom>
          <a:noFill/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8580" rtlCol="0" anchor="ctr"/>
          <a:lstStyle/>
          <a:p>
            <a:r>
              <a:rPr b="0" dirty="0">
                <a:solidFill>
                  <a:srgbClr val="5B6673"/>
                </a:solidFill>
                <a:latin typeface="Arial"/>
              </a:rPr>
              <a:t>Rule: “</a:t>
            </a:r>
            <a:r>
              <a:rPr b="0" dirty="0" err="1">
                <a:solidFill>
                  <a:srgbClr val="5B6673"/>
                </a:solidFill>
                <a:latin typeface="Arial"/>
              </a:rPr>
              <a:t>neste</a:t>
            </a:r>
            <a:r>
              <a:rPr b="0" dirty="0">
                <a:solidFill>
                  <a:srgbClr val="5B6673"/>
                </a:solidFill>
                <a:latin typeface="Arial"/>
              </a:rPr>
              <a:t> </a:t>
            </a:r>
            <a:r>
              <a:rPr b="0" dirty="0" err="1">
                <a:solidFill>
                  <a:srgbClr val="5B6673"/>
                </a:solidFill>
                <a:latin typeface="Arial"/>
              </a:rPr>
              <a:t>projeto</a:t>
            </a:r>
            <a:r>
              <a:rPr b="0" dirty="0">
                <a:solidFill>
                  <a:srgbClr val="5B6673"/>
                </a:solidFill>
                <a:latin typeface="Arial"/>
              </a:rPr>
              <a:t>, </a:t>
            </a:r>
            <a:r>
              <a:rPr b="0" dirty="0" err="1">
                <a:solidFill>
                  <a:srgbClr val="5B6673"/>
                </a:solidFill>
                <a:latin typeface="Arial"/>
              </a:rPr>
              <a:t>faça</a:t>
            </a:r>
            <a:r>
              <a:rPr b="0" dirty="0">
                <a:solidFill>
                  <a:srgbClr val="5B6673"/>
                </a:solidFill>
                <a:latin typeface="Arial"/>
              </a:rPr>
              <a:t> </a:t>
            </a:r>
            <a:r>
              <a:rPr b="0" dirty="0" err="1">
                <a:solidFill>
                  <a:srgbClr val="5B6673"/>
                </a:solidFill>
                <a:latin typeface="Arial"/>
              </a:rPr>
              <a:t>assim</a:t>
            </a:r>
            <a:r>
              <a:rPr b="0" dirty="0">
                <a:solidFill>
                  <a:srgbClr val="5B6673"/>
                </a:solidFill>
                <a:latin typeface="Arial"/>
              </a:rPr>
              <a:t>”. Skill: “</a:t>
            </a:r>
            <a:r>
              <a:rPr b="0" dirty="0" err="1">
                <a:solidFill>
                  <a:srgbClr val="5B6673"/>
                </a:solidFill>
                <a:latin typeface="Arial"/>
              </a:rPr>
              <a:t>quando</a:t>
            </a:r>
            <a:r>
              <a:rPr b="0" dirty="0">
                <a:solidFill>
                  <a:srgbClr val="5B6673"/>
                </a:solidFill>
                <a:latin typeface="Arial"/>
              </a:rPr>
              <a:t> for </a:t>
            </a:r>
            <a:r>
              <a:rPr b="0" dirty="0" err="1">
                <a:solidFill>
                  <a:srgbClr val="5B6673"/>
                </a:solidFill>
                <a:latin typeface="Arial"/>
              </a:rPr>
              <a:t>fazer</a:t>
            </a:r>
            <a:r>
              <a:rPr b="0" dirty="0">
                <a:solidFill>
                  <a:srgbClr val="5B6673"/>
                </a:solidFill>
                <a:latin typeface="Arial"/>
              </a:rPr>
              <a:t> X, </a:t>
            </a:r>
            <a:r>
              <a:rPr b="0" dirty="0" err="1">
                <a:solidFill>
                  <a:srgbClr val="5B6673"/>
                </a:solidFill>
                <a:latin typeface="Arial"/>
              </a:rPr>
              <a:t>siga</a:t>
            </a:r>
            <a:r>
              <a:rPr b="0" dirty="0">
                <a:solidFill>
                  <a:srgbClr val="5B6673"/>
                </a:solidFill>
                <a:latin typeface="Arial"/>
              </a:rPr>
              <a:t> </a:t>
            </a:r>
            <a:r>
              <a:rPr b="0" dirty="0" err="1">
                <a:solidFill>
                  <a:srgbClr val="5B6673"/>
                </a:solidFill>
                <a:latin typeface="Arial"/>
              </a:rPr>
              <a:t>estes</a:t>
            </a:r>
            <a:r>
              <a:rPr b="0" dirty="0">
                <a:solidFill>
                  <a:srgbClr val="5B6673"/>
                </a:solidFill>
                <a:latin typeface="Arial"/>
              </a:rPr>
              <a:t> </a:t>
            </a:r>
            <a:r>
              <a:rPr b="0" dirty="0" err="1">
                <a:solidFill>
                  <a:srgbClr val="5B6673"/>
                </a:solidFill>
                <a:latin typeface="Arial"/>
              </a:rPr>
              <a:t>passos</a:t>
            </a:r>
            <a:r>
              <a:rPr b="0" dirty="0">
                <a:solidFill>
                  <a:srgbClr val="5B6673"/>
                </a:solidFill>
                <a:latin typeface="Arial"/>
              </a:rPr>
              <a:t>”.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997472"/>
            <a:ext cx="2000000" cy="580000"/>
          </a:xfrm>
          <a:prstGeom prst="rect">
            <a:avLst/>
          </a:prstGeom>
          <a:solidFill>
            <a:srgbClr val="EEF2F6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8580" rtlCol="0" anchor="ctr"/>
          <a:lstStyle/>
          <a:p>
            <a:pPr algn="ctr"/>
            <a:r>
              <a:rPr sz="1600" b="1">
                <a:solidFill>
                  <a:srgbClr val="1F2933"/>
                </a:solidFill>
                <a:latin typeface="Arial"/>
              </a:rPr>
              <a:t>Critério</a:t>
            </a:r>
          </a:p>
        </p:txBody>
      </p:sp>
      <p:sp>
        <p:nvSpPr>
          <p:cNvPr id="7" name="Rectangle 6"/>
          <p:cNvSpPr/>
          <p:nvPr/>
        </p:nvSpPr>
        <p:spPr>
          <a:xfrm>
            <a:off x="2502920" y="1997472"/>
            <a:ext cx="4600000" cy="580000"/>
          </a:xfrm>
          <a:prstGeom prst="rect">
            <a:avLst/>
          </a:prstGeom>
          <a:solidFill>
            <a:srgbClr val="EEF2F6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8580" rtlCol="0" anchor="ctr"/>
          <a:lstStyle/>
          <a:p>
            <a:pPr algn="ctr"/>
            <a:r>
              <a:rPr sz="1600" b="1">
                <a:solidFill>
                  <a:srgbClr val="1F2933"/>
                </a:solidFill>
                <a:latin typeface="Arial"/>
              </a:rPr>
              <a:t>Rule</a:t>
            </a:r>
          </a:p>
        </p:txBody>
      </p:sp>
      <p:sp>
        <p:nvSpPr>
          <p:cNvPr id="8" name="Rectangle 7"/>
          <p:cNvSpPr/>
          <p:nvPr/>
        </p:nvSpPr>
        <p:spPr>
          <a:xfrm>
            <a:off x="7102920" y="1997472"/>
            <a:ext cx="4000000" cy="580000"/>
          </a:xfrm>
          <a:prstGeom prst="rect">
            <a:avLst/>
          </a:prstGeom>
          <a:solidFill>
            <a:srgbClr val="EEF2F6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8580" rtlCol="0" anchor="ctr"/>
          <a:lstStyle/>
          <a:p>
            <a:pPr algn="ctr"/>
            <a:r>
              <a:rPr sz="1600" b="1">
                <a:solidFill>
                  <a:srgbClr val="1F2933"/>
                </a:solidFill>
                <a:latin typeface="Arial"/>
              </a:rPr>
              <a:t>Skill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577472"/>
            <a:ext cx="2000000" cy="5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8580" rtlCol="0" anchor="ctr"/>
          <a:lstStyle/>
          <a:p>
            <a:pPr algn="ctr"/>
            <a:r>
              <a:rPr sz="1600" b="1">
                <a:solidFill>
                  <a:srgbClr val="1F2933"/>
                </a:solidFill>
                <a:latin typeface="Arial"/>
              </a:rPr>
              <a:t>O que é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02920" y="2577472"/>
            <a:ext cx="4600000" cy="5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8580" rtlCol="0" anchor="ctr"/>
          <a:lstStyle/>
          <a:p>
            <a:pPr algn="ctr"/>
            <a:r>
              <a:rPr sz="1600" b="0">
                <a:solidFill>
                  <a:srgbClr val="2B3440"/>
                </a:solidFill>
                <a:latin typeface="Arial"/>
              </a:rPr>
              <a:t>Convenção permanente do projeto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02920" y="2577472"/>
            <a:ext cx="4000000" cy="5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8580" rtlCol="0" anchor="ctr"/>
          <a:lstStyle/>
          <a:p>
            <a:pPr algn="ctr"/>
            <a:r>
              <a:rPr sz="1600" b="0">
                <a:solidFill>
                  <a:srgbClr val="2B3440"/>
                </a:solidFill>
                <a:latin typeface="Arial"/>
              </a:rPr>
              <a:t>Procedimento de uma tarefa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3157472"/>
            <a:ext cx="2000000" cy="5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8580" rtlCol="0" anchor="ctr"/>
          <a:lstStyle/>
          <a:p>
            <a:pPr algn="ctr"/>
            <a:r>
              <a:rPr sz="1600" b="1">
                <a:solidFill>
                  <a:srgbClr val="1F2933"/>
                </a:solidFill>
                <a:latin typeface="Arial"/>
              </a:rPr>
              <a:t>Quando entra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02920" y="3157472"/>
            <a:ext cx="4600000" cy="5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8580" rtlCol="0" anchor="ctr"/>
          <a:lstStyle/>
          <a:p>
            <a:pPr algn="ctr"/>
            <a:r>
              <a:rPr sz="1600" b="0">
                <a:solidFill>
                  <a:srgbClr val="2B3440"/>
                </a:solidFill>
                <a:latin typeface="Arial"/>
              </a:rPr>
              <a:t>Sempre, por pasta (glob/paths) ou por descrição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02920" y="3157472"/>
            <a:ext cx="4000000" cy="5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8580" rtlCol="0" anchor="ctr"/>
          <a:lstStyle/>
          <a:p>
            <a:pPr algn="ctr"/>
            <a:r>
              <a:rPr sz="1600" b="0">
                <a:solidFill>
                  <a:srgbClr val="2B3440"/>
                </a:solidFill>
                <a:latin typeface="Arial"/>
              </a:rPr>
              <a:t>Sob demanda, ou chamada pelo nome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737472"/>
            <a:ext cx="2000000" cy="5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8580" rtlCol="0" anchor="ctr"/>
          <a:lstStyle/>
          <a:p>
            <a:pPr algn="ctr"/>
            <a:r>
              <a:rPr sz="1600" b="1">
                <a:solidFill>
                  <a:srgbClr val="1F2933"/>
                </a:solidFill>
                <a:latin typeface="Arial"/>
              </a:rPr>
              <a:t>Tamanho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02920" y="3737472"/>
            <a:ext cx="4600000" cy="5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8580" rtlCol="0" anchor="ctr"/>
          <a:lstStyle/>
          <a:p>
            <a:pPr algn="ctr"/>
            <a:r>
              <a:rPr sz="1600" b="0">
                <a:solidFill>
                  <a:srgbClr val="2B3440"/>
                </a:solidFill>
                <a:latin typeface="Arial"/>
              </a:rPr>
              <a:t>Curta: padrões e restrições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02920" y="3737472"/>
            <a:ext cx="4000000" cy="5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8580" rtlCol="0" anchor="ctr"/>
          <a:lstStyle/>
          <a:p>
            <a:pPr algn="ctr"/>
            <a:r>
              <a:rPr sz="1600" b="0">
                <a:solidFill>
                  <a:srgbClr val="2B3440"/>
                </a:solidFill>
                <a:latin typeface="Arial"/>
              </a:rPr>
              <a:t>Pode ser longa: fluxo, exemplos, scripts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4317472"/>
            <a:ext cx="2000000" cy="5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8580" rtlCol="0" anchor="ctr"/>
          <a:lstStyle/>
          <a:p>
            <a:pPr algn="ctr"/>
            <a:r>
              <a:rPr sz="1600" b="1">
                <a:solidFill>
                  <a:srgbClr val="1F2933"/>
                </a:solidFill>
                <a:latin typeface="Arial"/>
              </a:rPr>
              <a:t>Analogia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502920" y="4317472"/>
            <a:ext cx="4600000" cy="5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8580" rtlCol="0" anchor="ctr"/>
          <a:lstStyle/>
          <a:p>
            <a:pPr algn="ctr"/>
            <a:r>
              <a:rPr sz="1600" b="0">
                <a:solidFill>
                  <a:srgbClr val="2B3440"/>
                </a:solidFill>
                <a:latin typeface="Arial"/>
              </a:rPr>
              <a:t>Regulamento da disciplina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102920" y="4317472"/>
            <a:ext cx="4000000" cy="5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8580" rtlCol="0" anchor="ctr"/>
          <a:lstStyle/>
          <a:p>
            <a:pPr algn="ctr"/>
            <a:r>
              <a:rPr sz="1600" b="0">
                <a:solidFill>
                  <a:srgbClr val="2B3440"/>
                </a:solidFill>
                <a:latin typeface="Arial"/>
              </a:rPr>
              <a:t>Roteiro de um laboratório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688775" y="6556248"/>
            <a:ext cx="228600" cy="146304"/>
          </a:xfrm>
          <a:prstGeom prst="rect">
            <a:avLst/>
          </a:prstGeom>
          <a:noFill/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8580" rtlCol="0" anchor="ctr"/>
          <a:lstStyle/>
          <a:p>
            <a:pPr algn="ctr"/>
            <a:r>
              <a:rPr sz="650" b="0">
                <a:solidFill>
                  <a:srgbClr val="111111"/>
                </a:solidFill>
                <a:latin typeface="Arial"/>
              </a:rPr>
              <a:t>24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484632"/>
            <a:ext cx="9000000" cy="164592"/>
          </a:xfrm>
          <a:prstGeom prst="rect">
            <a:avLst/>
          </a:prstGeom>
          <a:noFill/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8580" rtlCol="0" anchor="ctr"/>
          <a:lstStyle/>
          <a:p>
            <a:r>
              <a:rPr sz="650" b="1">
                <a:solidFill>
                  <a:srgbClr val="D1505B"/>
                </a:solidFill>
                <a:latin typeface="Arial"/>
              </a:rPr>
              <a:t>CURSOR E CLAUDE CODE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04672"/>
            <a:ext cx="10800000" cy="380000"/>
          </a:xfrm>
          <a:prstGeom prst="rect">
            <a:avLst/>
          </a:prstGeom>
          <a:noFill/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8580" rtlCol="0" anchor="ctr"/>
          <a:lstStyle/>
          <a:p>
            <a:r>
              <a:rPr sz="2800" b="1" dirty="0" err="1">
                <a:solidFill>
                  <a:srgbClr val="1F2933"/>
                </a:solidFill>
                <a:latin typeface="Georgia"/>
              </a:rPr>
              <a:t>Os</a:t>
            </a:r>
            <a:r>
              <a:rPr sz="2800" b="1" dirty="0">
                <a:solidFill>
                  <a:srgbClr val="1F2933"/>
                </a:solidFill>
                <a:latin typeface="Georgia"/>
              </a:rPr>
              <a:t> </a:t>
            </a:r>
            <a:r>
              <a:rPr sz="2800" b="1" dirty="0" err="1">
                <a:solidFill>
                  <a:srgbClr val="1F2933"/>
                </a:solidFill>
                <a:latin typeface="Georgia"/>
              </a:rPr>
              <a:t>dois</a:t>
            </a:r>
            <a:r>
              <a:rPr sz="2800" b="1" dirty="0">
                <a:solidFill>
                  <a:srgbClr val="1F2933"/>
                </a:solidFill>
                <a:latin typeface="Georgia"/>
              </a:rPr>
              <a:t> </a:t>
            </a:r>
            <a:r>
              <a:rPr sz="2800" b="1" dirty="0" err="1">
                <a:solidFill>
                  <a:srgbClr val="1F2933"/>
                </a:solidFill>
                <a:latin typeface="Georgia"/>
              </a:rPr>
              <a:t>papéis</a:t>
            </a:r>
            <a:r>
              <a:rPr sz="2800" b="1" dirty="0">
                <a:solidFill>
                  <a:srgbClr val="1F2933"/>
                </a:solidFill>
                <a:latin typeface="Georgia"/>
              </a:rPr>
              <a:t> </a:t>
            </a:r>
            <a:r>
              <a:rPr sz="2800" b="1" dirty="0" err="1">
                <a:solidFill>
                  <a:srgbClr val="1F2933"/>
                </a:solidFill>
                <a:latin typeface="Georgia"/>
              </a:rPr>
              <a:t>existem</a:t>
            </a:r>
            <a:r>
              <a:rPr sz="2800" b="1" dirty="0">
                <a:solidFill>
                  <a:srgbClr val="1F2933"/>
                </a:solidFill>
                <a:latin typeface="Georgia"/>
              </a:rPr>
              <a:t>; as pastas </a:t>
            </a:r>
            <a:r>
              <a:rPr sz="2800" b="1" dirty="0" err="1">
                <a:solidFill>
                  <a:srgbClr val="1F2933"/>
                </a:solidFill>
                <a:latin typeface="Georgia"/>
              </a:rPr>
              <a:t>mudam</a:t>
            </a:r>
            <a:endParaRPr sz="2800" b="1" dirty="0">
              <a:solidFill>
                <a:srgbClr val="1F2933"/>
              </a:solidFill>
              <a:latin typeface="Georgia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2920" y="1716928"/>
            <a:ext cx="2800000" cy="680000"/>
          </a:xfrm>
          <a:prstGeom prst="rect">
            <a:avLst/>
          </a:prstGeom>
          <a:solidFill>
            <a:srgbClr val="EEF2F6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8580" rtlCol="0" anchor="ctr"/>
          <a:lstStyle/>
          <a:p>
            <a:pPr algn="ctr"/>
            <a:r>
              <a:rPr sz="1600" b="1">
                <a:solidFill>
                  <a:srgbClr val="1F2933"/>
                </a:solidFill>
                <a:latin typeface="Arial"/>
              </a:rPr>
              <a:t>Papel</a:t>
            </a:r>
          </a:p>
        </p:txBody>
      </p:sp>
      <p:sp>
        <p:nvSpPr>
          <p:cNvPr id="6" name="Rectangle 5"/>
          <p:cNvSpPr/>
          <p:nvPr/>
        </p:nvSpPr>
        <p:spPr>
          <a:xfrm>
            <a:off x="3302920" y="1716928"/>
            <a:ext cx="4000000" cy="680000"/>
          </a:xfrm>
          <a:prstGeom prst="rect">
            <a:avLst/>
          </a:prstGeom>
          <a:solidFill>
            <a:srgbClr val="EEF2F6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8580" rtlCol="0" anchor="ctr"/>
          <a:lstStyle/>
          <a:p>
            <a:pPr algn="ctr"/>
            <a:r>
              <a:rPr sz="1600" b="1">
                <a:solidFill>
                  <a:srgbClr val="1F2933"/>
                </a:solidFill>
                <a:latin typeface="Arial"/>
              </a:rPr>
              <a:t>Cursor</a:t>
            </a:r>
          </a:p>
        </p:txBody>
      </p:sp>
      <p:sp>
        <p:nvSpPr>
          <p:cNvPr id="7" name="Rectangle 6"/>
          <p:cNvSpPr/>
          <p:nvPr/>
        </p:nvSpPr>
        <p:spPr>
          <a:xfrm>
            <a:off x="7302920" y="1716928"/>
            <a:ext cx="3800000" cy="680000"/>
          </a:xfrm>
          <a:prstGeom prst="rect">
            <a:avLst/>
          </a:prstGeom>
          <a:solidFill>
            <a:srgbClr val="EEF2F6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8580" rtlCol="0" anchor="ctr"/>
          <a:lstStyle/>
          <a:p>
            <a:pPr algn="ctr"/>
            <a:r>
              <a:rPr sz="1600" b="1">
                <a:solidFill>
                  <a:srgbClr val="1F2933"/>
                </a:solidFill>
                <a:latin typeface="Arial"/>
              </a:rPr>
              <a:t>Claude Code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396928"/>
            <a:ext cx="2800000" cy="6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8580" rtlCol="0" anchor="ctr"/>
          <a:lstStyle/>
          <a:p>
            <a:pPr algn="ctr"/>
            <a:r>
              <a:rPr sz="1600" b="1">
                <a:solidFill>
                  <a:srgbClr val="1F2933"/>
                </a:solidFill>
                <a:latin typeface="Arial"/>
              </a:rPr>
              <a:t>Manual sempre ligado</a:t>
            </a:r>
          </a:p>
        </p:txBody>
      </p:sp>
      <p:sp>
        <p:nvSpPr>
          <p:cNvPr id="9" name="Rectangle 8"/>
          <p:cNvSpPr/>
          <p:nvPr/>
        </p:nvSpPr>
        <p:spPr>
          <a:xfrm>
            <a:off x="3302920" y="2396928"/>
            <a:ext cx="4000000" cy="6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8580" rtlCol="0" anchor="ctr"/>
          <a:lstStyle/>
          <a:p>
            <a:pPr algn="ctr"/>
            <a:r>
              <a:rPr sz="1600" b="0">
                <a:solidFill>
                  <a:srgbClr val="2B3440"/>
                </a:solidFill>
                <a:latin typeface="Arial"/>
              </a:rPr>
              <a:t>Rule alwaysApply ou AGENTS.md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02920" y="2396928"/>
            <a:ext cx="3800000" cy="6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8580" rtlCol="0" anchor="ctr"/>
          <a:lstStyle/>
          <a:p>
            <a:pPr algn="ctr"/>
            <a:r>
              <a:rPr sz="1600" b="0">
                <a:solidFill>
                  <a:srgbClr val="2B3440"/>
                </a:solidFill>
                <a:latin typeface="Arial"/>
              </a:rPr>
              <a:t>.claude/CLAUDE.md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076928"/>
            <a:ext cx="2800000" cy="6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8580" rtlCol="0" anchor="ctr"/>
          <a:lstStyle/>
          <a:p>
            <a:pPr algn="ctr"/>
            <a:r>
              <a:rPr sz="1600" b="1">
                <a:solidFill>
                  <a:srgbClr val="1F2933"/>
                </a:solidFill>
                <a:latin typeface="Arial"/>
              </a:rPr>
              <a:t>Rule (convenção)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02920" y="3076928"/>
            <a:ext cx="4000000" cy="6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8580" rtlCol="0" anchor="ctr"/>
          <a:lstStyle/>
          <a:p>
            <a:pPr algn="ctr"/>
            <a:r>
              <a:rPr sz="1600" b="0">
                <a:solidFill>
                  <a:srgbClr val="2B3440"/>
                </a:solidFill>
                <a:latin typeface="Arial"/>
              </a:rPr>
              <a:t>.cursor/rules/*.mdc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02920" y="3076928"/>
            <a:ext cx="3800000" cy="6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8580" rtlCol="0" anchor="ctr"/>
          <a:lstStyle/>
          <a:p>
            <a:pPr algn="ctr"/>
            <a:r>
              <a:rPr sz="1600" b="0">
                <a:solidFill>
                  <a:srgbClr val="2B3440"/>
                </a:solidFill>
                <a:latin typeface="Arial"/>
              </a:rPr>
              <a:t>.claude/rules/*.md (paths:)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756928"/>
            <a:ext cx="2800000" cy="6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8580" rtlCol="0" anchor="ctr"/>
          <a:lstStyle/>
          <a:p>
            <a:pPr algn="ctr"/>
            <a:r>
              <a:rPr sz="1600" b="1">
                <a:solidFill>
                  <a:srgbClr val="1F2933"/>
                </a:solidFill>
                <a:latin typeface="Arial"/>
              </a:rPr>
              <a:t>Skill (roteiro)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02920" y="3756928"/>
            <a:ext cx="4000000" cy="6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8580" rtlCol="0" anchor="ctr"/>
          <a:lstStyle/>
          <a:p>
            <a:pPr algn="ctr"/>
            <a:r>
              <a:rPr sz="1600" b="0">
                <a:solidFill>
                  <a:srgbClr val="2B3440"/>
                </a:solidFill>
                <a:latin typeface="Arial"/>
              </a:rPr>
              <a:t>.cursor/skills/&lt;nome&gt;/SKILL.md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02920" y="3756928"/>
            <a:ext cx="3800000" cy="6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8580" rtlCol="0" anchor="ctr"/>
          <a:lstStyle/>
          <a:p>
            <a:pPr algn="ctr"/>
            <a:r>
              <a:rPr sz="1600" b="0">
                <a:solidFill>
                  <a:srgbClr val="2B3440"/>
                </a:solidFill>
                <a:latin typeface="Arial"/>
              </a:rPr>
              <a:t>.claude/skills/&lt;nome&gt;/SKILL.md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4436928"/>
            <a:ext cx="2800000" cy="6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8580" rtlCol="0" anchor="ctr"/>
          <a:lstStyle/>
          <a:p>
            <a:pPr algn="ctr"/>
            <a:r>
              <a:rPr sz="1600" b="1">
                <a:solidFill>
                  <a:srgbClr val="1F2933"/>
                </a:solidFill>
                <a:latin typeface="Arial"/>
              </a:rPr>
              <a:t>MCP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02920" y="4436928"/>
            <a:ext cx="4000000" cy="6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8580" rtlCol="0" anchor="ctr"/>
          <a:lstStyle/>
          <a:p>
            <a:pPr algn="ctr"/>
            <a:r>
              <a:rPr sz="1600" b="0">
                <a:solidFill>
                  <a:srgbClr val="2B3440"/>
                </a:solidFill>
                <a:latin typeface="Arial"/>
              </a:rPr>
              <a:t>.cursor/mcp.json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02920" y="4436928"/>
            <a:ext cx="3800000" cy="6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8580" rtlCol="0" anchor="ctr"/>
          <a:lstStyle/>
          <a:p>
            <a:pPr algn="ctr"/>
            <a:r>
              <a:rPr sz="1600" b="0">
                <a:solidFill>
                  <a:srgbClr val="2B3440"/>
                </a:solidFill>
                <a:latin typeface="Arial"/>
              </a:rPr>
              <a:t>.mcp.json na raiz do projeto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5466928"/>
            <a:ext cx="10800000" cy="420000"/>
          </a:xfrm>
          <a:prstGeom prst="rect">
            <a:avLst/>
          </a:prstGeom>
          <a:noFill/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8580" rtlCol="0" anchor="ctr"/>
          <a:lstStyle/>
          <a:p>
            <a:r>
              <a:rPr sz="1600" b="1" dirty="0">
                <a:solidFill>
                  <a:srgbClr val="D1505B"/>
                </a:solidFill>
                <a:latin typeface="Arial"/>
              </a:rPr>
              <a:t>• </a:t>
            </a:r>
            <a:r>
              <a:rPr b="0" dirty="0">
                <a:solidFill>
                  <a:srgbClr val="EE0000"/>
                </a:solidFill>
                <a:latin typeface="Arial"/>
              </a:rPr>
              <a:t>No Cursor, </a:t>
            </a:r>
            <a:r>
              <a:rPr b="0" dirty="0" err="1">
                <a:solidFill>
                  <a:srgbClr val="EE0000"/>
                </a:solidFill>
                <a:latin typeface="Arial"/>
              </a:rPr>
              <a:t>os</a:t>
            </a:r>
            <a:r>
              <a:rPr b="0" dirty="0">
                <a:solidFill>
                  <a:srgbClr val="EE0000"/>
                </a:solidFill>
                <a:latin typeface="Arial"/>
              </a:rPr>
              <a:t> 7 </a:t>
            </a:r>
            <a:r>
              <a:rPr b="0" dirty="0" err="1">
                <a:solidFill>
                  <a:srgbClr val="EE0000"/>
                </a:solidFill>
                <a:latin typeface="Arial"/>
              </a:rPr>
              <a:t>papéis</a:t>
            </a:r>
            <a:r>
              <a:rPr b="0" dirty="0">
                <a:solidFill>
                  <a:srgbClr val="EE0000"/>
                </a:solidFill>
                <a:latin typeface="Arial"/>
              </a:rPr>
              <a:t> </a:t>
            </a:r>
            <a:r>
              <a:rPr b="0" dirty="0" err="1">
                <a:solidFill>
                  <a:srgbClr val="EE0000"/>
                </a:solidFill>
                <a:latin typeface="Arial"/>
              </a:rPr>
              <a:t>estão</a:t>
            </a:r>
            <a:r>
              <a:rPr b="0" dirty="0">
                <a:solidFill>
                  <a:srgbClr val="EE0000"/>
                </a:solidFill>
                <a:latin typeface="Arial"/>
              </a:rPr>
              <a:t> </a:t>
            </a:r>
            <a:r>
              <a:rPr b="0" dirty="0" err="1">
                <a:solidFill>
                  <a:srgbClr val="EE0000"/>
                </a:solidFill>
                <a:latin typeface="Arial"/>
              </a:rPr>
              <a:t>em</a:t>
            </a:r>
            <a:r>
              <a:rPr b="0" dirty="0">
                <a:solidFill>
                  <a:srgbClr val="EE0000"/>
                </a:solidFill>
                <a:latin typeface="Arial"/>
              </a:rPr>
              <a:t> rules com </a:t>
            </a:r>
            <a:r>
              <a:rPr b="0" dirty="0" err="1">
                <a:solidFill>
                  <a:srgbClr val="EE0000"/>
                </a:solidFill>
                <a:latin typeface="Arial"/>
              </a:rPr>
              <a:t>alwaysApply</a:t>
            </a:r>
            <a:r>
              <a:rPr b="0" dirty="0">
                <a:solidFill>
                  <a:srgbClr val="EE0000"/>
                </a:solidFill>
                <a:latin typeface="Arial"/>
              </a:rPr>
              <a:t>: false. No Claude Code o </a:t>
            </a:r>
            <a:r>
              <a:rPr b="0" dirty="0" err="1">
                <a:solidFill>
                  <a:srgbClr val="EE0000"/>
                </a:solidFill>
                <a:latin typeface="Arial"/>
              </a:rPr>
              <a:t>equivalente</a:t>
            </a:r>
            <a:r>
              <a:rPr b="0" dirty="0">
                <a:solidFill>
                  <a:srgbClr val="EE0000"/>
                </a:solidFill>
                <a:latin typeface="Arial"/>
              </a:rPr>
              <a:t> é skill.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688775" y="6556248"/>
            <a:ext cx="228600" cy="146304"/>
          </a:xfrm>
          <a:prstGeom prst="rect">
            <a:avLst/>
          </a:prstGeom>
          <a:noFill/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8580" rtlCol="0" anchor="ctr"/>
          <a:lstStyle/>
          <a:p>
            <a:pPr algn="ctr"/>
            <a:r>
              <a:rPr sz="650" b="0">
                <a:solidFill>
                  <a:srgbClr val="111111"/>
                </a:solidFill>
                <a:latin typeface="Arial"/>
              </a:rPr>
              <a:t>25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484632"/>
            <a:ext cx="9000000" cy="164592"/>
          </a:xfrm>
          <a:prstGeom prst="rect">
            <a:avLst/>
          </a:prstGeom>
          <a:noFill/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8580" rtlCol="0" anchor="ctr"/>
          <a:lstStyle/>
          <a:p>
            <a:r>
              <a:rPr sz="650" b="1" dirty="0">
                <a:solidFill>
                  <a:srgbClr val="D1505B"/>
                </a:solidFill>
                <a:latin typeface="Arial"/>
              </a:rPr>
              <a:t>VS CODE + COPILOT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04672"/>
            <a:ext cx="10800000" cy="380000"/>
          </a:xfrm>
          <a:prstGeom prst="rect">
            <a:avLst/>
          </a:prstGeom>
          <a:noFill/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8580" rtlCol="0" anchor="ctr"/>
          <a:lstStyle/>
          <a:p>
            <a:r>
              <a:rPr sz="2800" b="1" dirty="0" err="1">
                <a:solidFill>
                  <a:srgbClr val="1F2933"/>
                </a:solidFill>
                <a:latin typeface="Georgia"/>
              </a:rPr>
              <a:t>Funciona</a:t>
            </a:r>
            <a:r>
              <a:rPr sz="2800" b="1" dirty="0">
                <a:solidFill>
                  <a:srgbClr val="1F2933"/>
                </a:solidFill>
                <a:latin typeface="Georgia"/>
              </a:rPr>
              <a:t> de outro </a:t>
            </a:r>
            <a:r>
              <a:rPr sz="2800" b="1" dirty="0" err="1">
                <a:solidFill>
                  <a:srgbClr val="1F2933"/>
                </a:solidFill>
                <a:latin typeface="Georgia"/>
              </a:rPr>
              <a:t>jeito</a:t>
            </a:r>
            <a:r>
              <a:rPr sz="2800" b="1" dirty="0">
                <a:solidFill>
                  <a:srgbClr val="1F2933"/>
                </a:solidFill>
                <a:latin typeface="Georgia"/>
              </a:rPr>
              <a:t> </a:t>
            </a:r>
            <a:r>
              <a:rPr lang="pt-BR" sz="2800" b="1" dirty="0">
                <a:solidFill>
                  <a:srgbClr val="1F2933"/>
                </a:solidFill>
                <a:latin typeface="Georgia"/>
              </a:rPr>
              <a:t>-</a:t>
            </a:r>
            <a:r>
              <a:rPr sz="2800" b="1" dirty="0">
                <a:solidFill>
                  <a:srgbClr val="1F2933"/>
                </a:solidFill>
                <a:latin typeface="Georgia"/>
              </a:rPr>
              <a:t> use o </a:t>
            </a:r>
            <a:r>
              <a:rPr sz="2800" b="1" dirty="0" err="1">
                <a:solidFill>
                  <a:srgbClr val="1F2933"/>
                </a:solidFill>
                <a:latin typeface="Georgia"/>
              </a:rPr>
              <a:t>modelo</a:t>
            </a:r>
            <a:r>
              <a:rPr sz="2800" b="1" dirty="0">
                <a:solidFill>
                  <a:srgbClr val="1F2933"/>
                </a:solidFill>
                <a:latin typeface="Georgia"/>
              </a:rPr>
              <a:t> no GitHub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49672"/>
            <a:ext cx="10800000" cy="320000"/>
          </a:xfrm>
          <a:prstGeom prst="rect">
            <a:avLst/>
          </a:prstGeom>
          <a:noFill/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8580" rtlCol="0" anchor="ctr"/>
          <a:lstStyle/>
          <a:p>
            <a:r>
              <a:rPr sz="1600" b="0" dirty="0">
                <a:solidFill>
                  <a:srgbClr val="5B6673"/>
                </a:solidFill>
                <a:latin typeface="Arial"/>
              </a:rPr>
              <a:t>O Copilot </a:t>
            </a:r>
            <a:r>
              <a:rPr sz="1600" b="0" dirty="0" err="1">
                <a:solidFill>
                  <a:srgbClr val="5B6673"/>
                </a:solidFill>
                <a:latin typeface="Arial"/>
              </a:rPr>
              <a:t>não</a:t>
            </a:r>
            <a:r>
              <a:rPr sz="1600" b="0" dirty="0">
                <a:solidFill>
                  <a:srgbClr val="5B6673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5B6673"/>
                </a:solidFill>
                <a:latin typeface="Arial"/>
              </a:rPr>
              <a:t>cabe</a:t>
            </a:r>
            <a:r>
              <a:rPr sz="1600" b="0" dirty="0">
                <a:solidFill>
                  <a:srgbClr val="5B6673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5B6673"/>
                </a:solidFill>
                <a:latin typeface="Arial"/>
              </a:rPr>
              <a:t>só</a:t>
            </a:r>
            <a:r>
              <a:rPr sz="1600" b="0" dirty="0">
                <a:solidFill>
                  <a:srgbClr val="5B6673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5B6673"/>
                </a:solidFill>
                <a:latin typeface="Arial"/>
              </a:rPr>
              <a:t>em</a:t>
            </a:r>
            <a:r>
              <a:rPr sz="1600" b="0" dirty="0">
                <a:solidFill>
                  <a:srgbClr val="5B6673"/>
                </a:solidFill>
                <a:latin typeface="Arial"/>
              </a:rPr>
              <a:t> .</a:t>
            </a:r>
            <a:r>
              <a:rPr sz="1600" b="0" dirty="0" err="1">
                <a:solidFill>
                  <a:srgbClr val="5B6673"/>
                </a:solidFill>
                <a:latin typeface="Arial"/>
              </a:rPr>
              <a:t>vscode</a:t>
            </a:r>
            <a:r>
              <a:rPr sz="1600" b="0" dirty="0">
                <a:solidFill>
                  <a:srgbClr val="5B6673"/>
                </a:solidFill>
                <a:latin typeface="Arial"/>
              </a:rPr>
              <a:t>. MCP </a:t>
            </a:r>
            <a:r>
              <a:rPr sz="1600" b="0" dirty="0" err="1">
                <a:solidFill>
                  <a:srgbClr val="5B6673"/>
                </a:solidFill>
                <a:latin typeface="Arial"/>
              </a:rPr>
              <a:t>fica</a:t>
            </a:r>
            <a:r>
              <a:rPr sz="1600" b="0" dirty="0">
                <a:solidFill>
                  <a:srgbClr val="5B6673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5B6673"/>
                </a:solidFill>
                <a:latin typeface="Arial"/>
              </a:rPr>
              <a:t>ali</a:t>
            </a:r>
            <a:r>
              <a:rPr sz="1600" b="0" dirty="0">
                <a:solidFill>
                  <a:srgbClr val="5B6673"/>
                </a:solidFill>
                <a:latin typeface="Arial"/>
              </a:rPr>
              <a:t>; o manual e as rules </a:t>
            </a:r>
            <a:r>
              <a:rPr sz="1600" b="0" dirty="0" err="1">
                <a:solidFill>
                  <a:srgbClr val="5B6673"/>
                </a:solidFill>
                <a:latin typeface="Arial"/>
              </a:rPr>
              <a:t>ficam</a:t>
            </a:r>
            <a:r>
              <a:rPr sz="1600" b="0" dirty="0">
                <a:solidFill>
                  <a:srgbClr val="5B6673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5B6673"/>
                </a:solidFill>
                <a:latin typeface="Arial"/>
              </a:rPr>
              <a:t>em</a:t>
            </a:r>
            <a:r>
              <a:rPr sz="1600" b="0" dirty="0">
                <a:solidFill>
                  <a:srgbClr val="5B6673"/>
                </a:solidFill>
                <a:latin typeface="Arial"/>
              </a:rPr>
              <a:t> .</a:t>
            </a:r>
            <a:r>
              <a:rPr sz="1600" b="0" dirty="0" err="1">
                <a:solidFill>
                  <a:srgbClr val="5B6673"/>
                </a:solidFill>
                <a:latin typeface="Arial"/>
              </a:rPr>
              <a:t>github</a:t>
            </a:r>
            <a:r>
              <a:rPr sz="1600" b="0" dirty="0">
                <a:solidFill>
                  <a:srgbClr val="5B6673"/>
                </a:solidFill>
                <a:latin typeface="Arial"/>
              </a:rPr>
              <a:t>/.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978017"/>
            <a:ext cx="3600000" cy="560000"/>
          </a:xfrm>
          <a:prstGeom prst="rect">
            <a:avLst/>
          </a:prstGeom>
          <a:solidFill>
            <a:srgbClr val="EEF2F6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8580" rtlCol="0" anchor="ctr"/>
          <a:lstStyle/>
          <a:p>
            <a:pPr algn="ctr"/>
            <a:r>
              <a:rPr sz="1600" b="1">
                <a:solidFill>
                  <a:srgbClr val="1F2933"/>
                </a:solidFill>
                <a:latin typeface="Arial"/>
              </a:rPr>
              <a:t>Papel no Copilot</a:t>
            </a:r>
          </a:p>
        </p:txBody>
      </p:sp>
      <p:sp>
        <p:nvSpPr>
          <p:cNvPr id="7" name="Rectangle 6"/>
          <p:cNvSpPr/>
          <p:nvPr/>
        </p:nvSpPr>
        <p:spPr>
          <a:xfrm>
            <a:off x="4240080" y="1978017"/>
            <a:ext cx="7000000" cy="560000"/>
          </a:xfrm>
          <a:prstGeom prst="rect">
            <a:avLst/>
          </a:prstGeom>
          <a:solidFill>
            <a:srgbClr val="EEF2F6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8580" rtlCol="0" anchor="ctr"/>
          <a:lstStyle/>
          <a:p>
            <a:pPr algn="ctr"/>
            <a:r>
              <a:rPr sz="1600" b="1">
                <a:solidFill>
                  <a:srgbClr val="1F2933"/>
                </a:solidFill>
                <a:latin typeface="Arial"/>
              </a:rPr>
              <a:t>Onde configurar no EstudaAI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538017"/>
            <a:ext cx="3600000" cy="56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8580" rtlCol="0" anchor="ctr"/>
          <a:lstStyle/>
          <a:p>
            <a:pPr algn="ctr"/>
            <a:r>
              <a:rPr sz="1600" b="1">
                <a:solidFill>
                  <a:srgbClr val="1F2933"/>
                </a:solidFill>
                <a:latin typeface="Arial"/>
              </a:rPr>
              <a:t>Manual sempre ligado</a:t>
            </a:r>
          </a:p>
        </p:txBody>
      </p:sp>
      <p:sp>
        <p:nvSpPr>
          <p:cNvPr id="9" name="Rectangle 8"/>
          <p:cNvSpPr/>
          <p:nvPr/>
        </p:nvSpPr>
        <p:spPr>
          <a:xfrm>
            <a:off x="4240080" y="2538017"/>
            <a:ext cx="7000000" cy="56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8580" rtlCol="0" anchor="ctr"/>
          <a:lstStyle/>
          <a:p>
            <a:pPr algn="ctr"/>
            <a:r>
              <a:rPr sz="1600" b="0">
                <a:solidFill>
                  <a:srgbClr val="2B3440"/>
                </a:solidFill>
                <a:latin typeface="Arial"/>
              </a:rPr>
              <a:t>.github/copilot-instructions.md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098017"/>
            <a:ext cx="3600000" cy="56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8580" rtlCol="0" anchor="ctr"/>
          <a:lstStyle/>
          <a:p>
            <a:pPr algn="ctr"/>
            <a:r>
              <a:rPr sz="1600" b="1">
                <a:solidFill>
                  <a:srgbClr val="1F2933"/>
                </a:solidFill>
                <a:latin typeface="Arial"/>
              </a:rPr>
              <a:t>Rule por pasta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40080" y="3098017"/>
            <a:ext cx="7000000" cy="56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8580" rtlCol="0" anchor="ctr"/>
          <a:lstStyle/>
          <a:p>
            <a:pPr algn="ctr"/>
            <a:r>
              <a:rPr sz="1600" b="0">
                <a:solidFill>
                  <a:srgbClr val="2B3440"/>
                </a:solidFill>
                <a:latin typeface="Arial"/>
              </a:rPr>
              <a:t>.github/instructions/*.instructions.md (applyTo)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658017"/>
            <a:ext cx="3600000" cy="56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8580" rtlCol="0" anchor="ctr"/>
          <a:lstStyle/>
          <a:p>
            <a:pPr algn="ctr"/>
            <a:r>
              <a:rPr sz="1600" b="1">
                <a:solidFill>
                  <a:srgbClr val="1F2933"/>
                </a:solidFill>
                <a:latin typeface="Arial"/>
              </a:rPr>
              <a:t>Skills do pipeline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40080" y="3658017"/>
            <a:ext cx="7000000" cy="56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8580" rtlCol="0" anchor="ctr"/>
          <a:lstStyle/>
          <a:p>
            <a:pPr algn="ctr"/>
            <a:r>
              <a:rPr sz="1600" b="0">
                <a:solidFill>
                  <a:srgbClr val="2B3440"/>
                </a:solidFill>
                <a:latin typeface="Arial"/>
              </a:rPr>
              <a:t>O Copilot já lê .claude/skills/ (não duplicar)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218017"/>
            <a:ext cx="3600000" cy="56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8580" rtlCol="0" anchor="ctr"/>
          <a:lstStyle/>
          <a:p>
            <a:pPr algn="ctr"/>
            <a:r>
              <a:rPr sz="1600" b="1">
                <a:solidFill>
                  <a:srgbClr val="1F2933"/>
                </a:solidFill>
                <a:latin typeface="Arial"/>
              </a:rPr>
              <a:t>MCP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40080" y="4218017"/>
            <a:ext cx="7000000" cy="56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8580" rtlCol="0" anchor="ctr"/>
          <a:lstStyle/>
          <a:p>
            <a:pPr algn="ctr"/>
            <a:r>
              <a:rPr sz="1600" b="0">
                <a:solidFill>
                  <a:srgbClr val="2B3440"/>
                </a:solidFill>
                <a:latin typeface="Arial"/>
              </a:rPr>
              <a:t>.vscode/mcp.json (chave servers) + .vscode/mcp.env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79" y="5428017"/>
            <a:ext cx="12122609" cy="420000"/>
          </a:xfrm>
          <a:prstGeom prst="rect">
            <a:avLst/>
          </a:prstGeom>
          <a:noFill/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8580" rtlCol="0" anchor="ctr"/>
          <a:lstStyle/>
          <a:p>
            <a:r>
              <a:rPr sz="1600" b="1" dirty="0">
                <a:solidFill>
                  <a:srgbClr val="D1505B"/>
                </a:solidFill>
                <a:latin typeface="Arial"/>
              </a:rPr>
              <a:t>• </a:t>
            </a:r>
            <a:r>
              <a:rPr sz="1600" b="0" dirty="0" err="1">
                <a:solidFill>
                  <a:srgbClr val="EE0000"/>
                </a:solidFill>
                <a:latin typeface="Arial"/>
              </a:rPr>
              <a:t>Baixe</a:t>
            </a:r>
            <a:r>
              <a:rPr sz="1600" b="0" dirty="0">
                <a:solidFill>
                  <a:srgbClr val="EE0000"/>
                </a:solidFill>
                <a:latin typeface="Arial"/>
              </a:rPr>
              <a:t> o </a:t>
            </a:r>
            <a:r>
              <a:rPr sz="1600" b="0" dirty="0" err="1">
                <a:solidFill>
                  <a:srgbClr val="EE0000"/>
                </a:solidFill>
                <a:latin typeface="Arial"/>
              </a:rPr>
              <a:t>modelo</a:t>
            </a:r>
            <a:r>
              <a:rPr sz="1600" b="0" dirty="0">
                <a:solidFill>
                  <a:srgbClr val="EE0000"/>
                </a:solidFill>
                <a:latin typeface="Arial"/>
              </a:rPr>
              <a:t> no </a:t>
            </a:r>
            <a:r>
              <a:rPr sz="1600" b="0" dirty="0" err="1">
                <a:solidFill>
                  <a:srgbClr val="EE0000"/>
                </a:solidFill>
                <a:latin typeface="Arial"/>
              </a:rPr>
              <a:t>repositório</a:t>
            </a:r>
            <a:r>
              <a:rPr sz="1600" b="0" dirty="0">
                <a:solidFill>
                  <a:srgbClr val="EE0000"/>
                </a:solidFill>
                <a:latin typeface="Arial"/>
              </a:rPr>
              <a:t> GitHub do </a:t>
            </a:r>
            <a:r>
              <a:rPr sz="1600" b="0" dirty="0" err="1">
                <a:solidFill>
                  <a:srgbClr val="EE0000"/>
                </a:solidFill>
                <a:latin typeface="Arial"/>
              </a:rPr>
              <a:t>EstudaAI</a:t>
            </a:r>
            <a:r>
              <a:rPr sz="1600" b="0" dirty="0">
                <a:solidFill>
                  <a:srgbClr val="EE0000"/>
                </a:solidFill>
                <a:latin typeface="Arial"/>
              </a:rPr>
              <a:t>: </a:t>
            </a:r>
            <a:br>
              <a:rPr lang="pt-BR" sz="1600" b="0" dirty="0">
                <a:solidFill>
                  <a:srgbClr val="EE0000"/>
                </a:solidFill>
                <a:latin typeface="Arial"/>
              </a:rPr>
            </a:br>
            <a:r>
              <a:rPr lang="pt-BR" sz="1600" b="0" dirty="0">
                <a:solidFill>
                  <a:srgbClr val="EE0000"/>
                </a:solidFill>
                <a:latin typeface="Arial"/>
              </a:rPr>
              <a:t>   </a:t>
            </a:r>
            <a:r>
              <a:rPr sz="1600" b="0" dirty="0">
                <a:solidFill>
                  <a:srgbClr val="EE0000"/>
                </a:solidFill>
                <a:latin typeface="Arial"/>
              </a:rPr>
              <a:t>pastas .</a:t>
            </a:r>
            <a:r>
              <a:rPr sz="1600" b="0" dirty="0" err="1">
                <a:solidFill>
                  <a:srgbClr val="EE0000"/>
                </a:solidFill>
                <a:latin typeface="Arial"/>
              </a:rPr>
              <a:t>vscode</a:t>
            </a:r>
            <a:r>
              <a:rPr sz="1600" b="0" dirty="0">
                <a:solidFill>
                  <a:srgbClr val="EE0000"/>
                </a:solidFill>
                <a:latin typeface="Arial"/>
              </a:rPr>
              <a:t>, .</a:t>
            </a:r>
            <a:r>
              <a:rPr sz="1600" b="0" dirty="0" err="1">
                <a:solidFill>
                  <a:srgbClr val="EE0000"/>
                </a:solidFill>
                <a:latin typeface="Arial"/>
              </a:rPr>
              <a:t>github</a:t>
            </a:r>
            <a:r>
              <a:rPr sz="1600" b="0" dirty="0">
                <a:solidFill>
                  <a:srgbClr val="EE0000"/>
                </a:solidFill>
                <a:latin typeface="Arial"/>
              </a:rPr>
              <a:t>, .cursor e .</a:t>
            </a:r>
            <a:r>
              <a:rPr sz="1600" b="0" dirty="0" err="1">
                <a:solidFill>
                  <a:srgbClr val="EE0000"/>
                </a:solidFill>
                <a:latin typeface="Arial"/>
              </a:rPr>
              <a:t>claude</a:t>
            </a:r>
            <a:r>
              <a:rPr sz="1600" b="0" dirty="0">
                <a:solidFill>
                  <a:srgbClr val="EE0000"/>
                </a:solidFill>
                <a:latin typeface="Arial"/>
              </a:rPr>
              <a:t>. </a:t>
            </a:r>
            <a:r>
              <a:rPr sz="1600" b="0" dirty="0" err="1">
                <a:solidFill>
                  <a:srgbClr val="EE0000"/>
                </a:solidFill>
                <a:latin typeface="Arial"/>
              </a:rPr>
              <a:t>Comece</a:t>
            </a:r>
            <a:r>
              <a:rPr sz="1600" b="0" dirty="0">
                <a:solidFill>
                  <a:srgbClr val="EE0000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EE0000"/>
                </a:solidFill>
                <a:latin typeface="Arial"/>
              </a:rPr>
              <a:t>por</a:t>
            </a:r>
            <a:r>
              <a:rPr sz="1600" b="0" dirty="0">
                <a:solidFill>
                  <a:srgbClr val="EE0000"/>
                </a:solidFill>
                <a:latin typeface="Arial"/>
              </a:rPr>
              <a:t> .</a:t>
            </a:r>
            <a:r>
              <a:rPr sz="1600" b="0" dirty="0" err="1">
                <a:solidFill>
                  <a:srgbClr val="EE0000"/>
                </a:solidFill>
                <a:latin typeface="Arial"/>
              </a:rPr>
              <a:t>vscode</a:t>
            </a:r>
            <a:r>
              <a:rPr sz="1600" b="0" dirty="0">
                <a:solidFill>
                  <a:srgbClr val="EE0000"/>
                </a:solidFill>
                <a:latin typeface="Arial"/>
              </a:rPr>
              <a:t>/COPILOT.md.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688775" y="6556248"/>
            <a:ext cx="228600" cy="146304"/>
          </a:xfrm>
          <a:prstGeom prst="rect">
            <a:avLst/>
          </a:prstGeom>
          <a:noFill/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8580" rtlCol="0" anchor="ctr"/>
          <a:lstStyle/>
          <a:p>
            <a:pPr algn="ctr"/>
            <a:r>
              <a:rPr sz="650" b="0">
                <a:solidFill>
                  <a:srgbClr val="111111"/>
                </a:solidFill>
                <a:latin typeface="Arial"/>
              </a:rPr>
              <a:t>26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484632"/>
            <a:ext cx="9000000" cy="164592"/>
          </a:xfrm>
          <a:prstGeom prst="rect">
            <a:avLst/>
          </a:prstGeom>
          <a:noFill/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8580" rtlCol="0" anchor="ctr"/>
          <a:lstStyle/>
          <a:p>
            <a:r>
              <a:rPr sz="650" b="1" dirty="0">
                <a:solidFill>
                  <a:srgbClr val="D1505B"/>
                </a:solidFill>
                <a:latin typeface="Arial"/>
              </a:rPr>
              <a:t>RUNTIME DO AGENTE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04672"/>
            <a:ext cx="10800000" cy="380000"/>
          </a:xfrm>
          <a:prstGeom prst="rect">
            <a:avLst/>
          </a:prstGeom>
          <a:noFill/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8580" rtlCol="0" anchor="ctr"/>
          <a:lstStyle/>
          <a:p>
            <a:r>
              <a:rPr sz="2800" b="1" dirty="0">
                <a:solidFill>
                  <a:srgbClr val="1F2933"/>
                </a:solidFill>
                <a:latin typeface="Georgia"/>
              </a:rPr>
              <a:t>O harness é quem </a:t>
            </a:r>
            <a:r>
              <a:rPr sz="2800" b="1" dirty="0" err="1">
                <a:solidFill>
                  <a:srgbClr val="1F2933"/>
                </a:solidFill>
                <a:latin typeface="Georgia"/>
              </a:rPr>
              <a:t>lê</a:t>
            </a:r>
            <a:r>
              <a:rPr sz="2800" b="1" dirty="0">
                <a:solidFill>
                  <a:srgbClr val="1F2933"/>
                </a:solidFill>
                <a:latin typeface="Georgia"/>
              </a:rPr>
              <a:t> esses </a:t>
            </a:r>
            <a:r>
              <a:rPr sz="2800" b="1" dirty="0" err="1">
                <a:solidFill>
                  <a:srgbClr val="1F2933"/>
                </a:solidFill>
                <a:latin typeface="Georgia"/>
              </a:rPr>
              <a:t>arquivos</a:t>
            </a:r>
            <a:endParaRPr sz="2800" b="1" dirty="0">
              <a:solidFill>
                <a:srgbClr val="1F2933"/>
              </a:solidFill>
              <a:latin typeface="Georgia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40080" y="1465119"/>
            <a:ext cx="10800000" cy="320000"/>
          </a:xfrm>
          <a:prstGeom prst="rect">
            <a:avLst/>
          </a:prstGeom>
          <a:noFill/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8580" rtlCol="0" anchor="ctr"/>
          <a:lstStyle/>
          <a:p>
            <a:r>
              <a:rPr sz="1600" b="0" dirty="0">
                <a:solidFill>
                  <a:srgbClr val="5B6673"/>
                </a:solidFill>
                <a:latin typeface="Arial"/>
              </a:rPr>
              <a:t>Harness (</a:t>
            </a:r>
            <a:r>
              <a:rPr sz="1600" b="0" dirty="0" err="1">
                <a:solidFill>
                  <a:srgbClr val="5B6673"/>
                </a:solidFill>
                <a:latin typeface="Arial"/>
              </a:rPr>
              <a:t>ambiente</a:t>
            </a:r>
            <a:r>
              <a:rPr sz="1600" b="0" dirty="0">
                <a:solidFill>
                  <a:srgbClr val="5B6673"/>
                </a:solidFill>
                <a:latin typeface="Arial"/>
              </a:rPr>
              <a:t> de </a:t>
            </a:r>
            <a:r>
              <a:rPr sz="1600" b="0" dirty="0" err="1">
                <a:solidFill>
                  <a:srgbClr val="5B6673"/>
                </a:solidFill>
                <a:latin typeface="Arial"/>
              </a:rPr>
              <a:t>execução</a:t>
            </a:r>
            <a:r>
              <a:rPr sz="1600" b="0" dirty="0">
                <a:solidFill>
                  <a:srgbClr val="5B6673"/>
                </a:solidFill>
                <a:latin typeface="Arial"/>
              </a:rPr>
              <a:t>) </a:t>
            </a:r>
            <a:r>
              <a:rPr sz="1600" b="0" dirty="0" err="1">
                <a:solidFill>
                  <a:srgbClr val="5B6673"/>
                </a:solidFill>
                <a:latin typeface="Arial"/>
              </a:rPr>
              <a:t>envolve</a:t>
            </a:r>
            <a:r>
              <a:rPr sz="1600" b="0" dirty="0">
                <a:solidFill>
                  <a:srgbClr val="5B6673"/>
                </a:solidFill>
                <a:latin typeface="Arial"/>
              </a:rPr>
              <a:t> o </a:t>
            </a:r>
            <a:r>
              <a:rPr sz="1600" b="0" dirty="0" err="1">
                <a:solidFill>
                  <a:srgbClr val="5B6673"/>
                </a:solidFill>
                <a:latin typeface="Arial"/>
              </a:rPr>
              <a:t>modelo</a:t>
            </a:r>
            <a:r>
              <a:rPr sz="1600" b="0" dirty="0">
                <a:solidFill>
                  <a:srgbClr val="5B6673"/>
                </a:solidFill>
                <a:latin typeface="Arial"/>
              </a:rPr>
              <a:t>. </a:t>
            </a:r>
            <a:endParaRPr lang="pt-BR" sz="1600" b="0" dirty="0">
              <a:solidFill>
                <a:srgbClr val="5B6673"/>
              </a:solidFill>
              <a:latin typeface="Arial"/>
            </a:endParaRPr>
          </a:p>
          <a:p>
            <a:r>
              <a:rPr sz="1600" b="0" dirty="0" err="1">
                <a:solidFill>
                  <a:srgbClr val="5B6673"/>
                </a:solidFill>
                <a:latin typeface="Arial"/>
              </a:rPr>
              <a:t>Não</a:t>
            </a:r>
            <a:r>
              <a:rPr sz="1600" b="0" dirty="0">
                <a:solidFill>
                  <a:srgbClr val="5B6673"/>
                </a:solidFill>
                <a:latin typeface="Arial"/>
              </a:rPr>
              <a:t> é o LLM. </a:t>
            </a:r>
            <a:endParaRPr lang="pt-BR" sz="1600" b="0" dirty="0">
              <a:solidFill>
                <a:srgbClr val="5B6673"/>
              </a:solidFill>
              <a:latin typeface="Arial"/>
            </a:endParaRPr>
          </a:p>
          <a:p>
            <a:r>
              <a:rPr sz="1600" b="0" dirty="0">
                <a:solidFill>
                  <a:srgbClr val="5B6673"/>
                </a:solidFill>
                <a:latin typeface="Arial"/>
              </a:rPr>
              <a:t>É o Cursor, o Claude Code </a:t>
            </a:r>
            <a:r>
              <a:rPr sz="1600" b="0" dirty="0" err="1">
                <a:solidFill>
                  <a:srgbClr val="5B6673"/>
                </a:solidFill>
                <a:latin typeface="Arial"/>
              </a:rPr>
              <a:t>ou</a:t>
            </a:r>
            <a:r>
              <a:rPr sz="1600" b="0" dirty="0">
                <a:solidFill>
                  <a:srgbClr val="5B6673"/>
                </a:solidFill>
                <a:latin typeface="Arial"/>
              </a:rPr>
              <a:t> o Agent Host do VS Code/Copilot.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308759"/>
            <a:ext cx="2625000" cy="2200000"/>
          </a:xfrm>
          <a:prstGeom prst="rect">
            <a:avLst/>
          </a:prstGeom>
          <a:solidFill>
            <a:srgbClr val="F2F4F7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8580" rtlCol="0" anchor="ctr"/>
          <a:lstStyle/>
          <a:p>
            <a:pPr algn="ctr"/>
            <a:r>
              <a:rPr sz="1600" b="1">
                <a:solidFill>
                  <a:srgbClr val="1F2933"/>
                </a:solidFill>
                <a:latin typeface="Arial"/>
              </a:rPr>
              <a:t>Carrega contexto
</a:t>
            </a:r>
            <a:r>
              <a:rPr sz="1600" b="0">
                <a:solidFill>
                  <a:srgbClr val="2B3440"/>
                </a:solidFill>
                <a:latin typeface="Arial"/>
              </a:rPr>
              <a:t>Injeta CLAUDE.md, copilot-instructions e rules no início da sessão — ou quando a pasta casa com glob/paths.</a:t>
            </a:r>
          </a:p>
        </p:txBody>
      </p:sp>
      <p:sp>
        <p:nvSpPr>
          <p:cNvPr id="7" name="Rectangle 6"/>
          <p:cNvSpPr/>
          <p:nvPr/>
        </p:nvSpPr>
        <p:spPr>
          <a:xfrm>
            <a:off x="3365080" y="2308759"/>
            <a:ext cx="2625000" cy="2200000"/>
          </a:xfrm>
          <a:prstGeom prst="rect">
            <a:avLst/>
          </a:prstGeom>
          <a:solidFill>
            <a:srgbClr val="F2F4F7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8580" rtlCol="0" anchor="ctr"/>
          <a:lstStyle/>
          <a:p>
            <a:pPr algn="ctr"/>
            <a:r>
              <a:rPr sz="1600" b="1">
                <a:solidFill>
                  <a:srgbClr val="1F2933"/>
                </a:solidFill>
                <a:latin typeface="Arial"/>
              </a:rPr>
              <a:t>Descobre skills
</a:t>
            </a:r>
            <a:r>
              <a:rPr sz="1600" b="0">
                <a:solidFill>
                  <a:srgbClr val="2B3440"/>
                </a:solidFill>
                <a:latin typeface="Arial"/>
              </a:rPr>
              <a:t>Só o índice (name + description) fica sempre visível. O corpo do SKILL.md entra quando a tarefa combina.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0080" y="2308759"/>
            <a:ext cx="2625000" cy="2200000"/>
          </a:xfrm>
          <a:prstGeom prst="rect">
            <a:avLst/>
          </a:prstGeom>
          <a:solidFill>
            <a:srgbClr val="F2F4F7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8580" rtlCol="0" anchor="ctr"/>
          <a:lstStyle/>
          <a:p>
            <a:pPr algn="ctr"/>
            <a:r>
              <a:rPr sz="1600" b="1">
                <a:solidFill>
                  <a:srgbClr val="1F2933"/>
                </a:solidFill>
                <a:latin typeface="Arial"/>
              </a:rPr>
              <a:t>Sobe o MCP
</a:t>
            </a:r>
            <a:r>
              <a:rPr sz="1600" b="0">
                <a:solidFill>
                  <a:srgbClr val="2B3440"/>
                </a:solidFill>
                <a:latin typeface="Arial"/>
              </a:rPr>
              <a:t>Lê mcp.json, interpola variáveis, inicia os servidores e decide se pede confiança ao aluno.</a:t>
            </a:r>
          </a:p>
        </p:txBody>
      </p:sp>
      <p:sp>
        <p:nvSpPr>
          <p:cNvPr id="9" name="Rectangle 8"/>
          <p:cNvSpPr/>
          <p:nvPr/>
        </p:nvSpPr>
        <p:spPr>
          <a:xfrm>
            <a:off x="8815080" y="2308759"/>
            <a:ext cx="2625000" cy="2200000"/>
          </a:xfrm>
          <a:prstGeom prst="rect">
            <a:avLst/>
          </a:prstGeom>
          <a:solidFill>
            <a:srgbClr val="F2F4F7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8580" rtlCol="0" anchor="ctr"/>
          <a:lstStyle/>
          <a:p>
            <a:pPr algn="ctr"/>
            <a:r>
              <a:rPr sz="1600" b="1">
                <a:solidFill>
                  <a:srgbClr val="1F2933"/>
                </a:solidFill>
                <a:latin typeface="Arial"/>
              </a:rPr>
              <a:t>Intercepta ferramentas
</a:t>
            </a:r>
            <a:r>
              <a:rPr sz="1600" b="0">
                <a:solidFill>
                  <a:srgbClr val="2B3440"/>
                </a:solidFill>
                <a:latin typeface="Arial"/>
              </a:rPr>
              <a:t>Hooks, confirmação e trust atuam fora do modelo. Por isso rule não substitui gate de segurança.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0080" y="5115004"/>
            <a:ext cx="10800000" cy="420000"/>
          </a:xfrm>
          <a:prstGeom prst="rect">
            <a:avLst/>
          </a:prstGeom>
          <a:noFill/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8580" rtlCol="0" anchor="ctr"/>
          <a:lstStyle/>
          <a:p>
            <a:r>
              <a:rPr b="1" dirty="0">
                <a:solidFill>
                  <a:srgbClr val="EE0000"/>
                </a:solidFill>
                <a:latin typeface="Arial"/>
              </a:rPr>
              <a:t>• </a:t>
            </a:r>
            <a:r>
              <a:rPr b="0" dirty="0">
                <a:solidFill>
                  <a:srgbClr val="EE0000"/>
                </a:solidFill>
                <a:latin typeface="Arial"/>
              </a:rPr>
              <a:t>Harnesses </a:t>
            </a:r>
            <a:r>
              <a:rPr b="0" dirty="0" err="1">
                <a:solidFill>
                  <a:srgbClr val="EE0000"/>
                </a:solidFill>
                <a:latin typeface="Arial"/>
              </a:rPr>
              <a:t>diferentes</a:t>
            </a:r>
            <a:r>
              <a:rPr b="0" dirty="0">
                <a:solidFill>
                  <a:srgbClr val="EE0000"/>
                </a:solidFill>
                <a:latin typeface="Arial"/>
              </a:rPr>
              <a:t> </a:t>
            </a:r>
            <a:r>
              <a:rPr b="0" dirty="0" err="1">
                <a:solidFill>
                  <a:srgbClr val="EE0000"/>
                </a:solidFill>
                <a:latin typeface="Arial"/>
              </a:rPr>
              <a:t>leem</a:t>
            </a:r>
            <a:r>
              <a:rPr b="0" dirty="0">
                <a:solidFill>
                  <a:srgbClr val="EE0000"/>
                </a:solidFill>
                <a:latin typeface="Arial"/>
              </a:rPr>
              <a:t> pastas </a:t>
            </a:r>
            <a:r>
              <a:rPr b="0" dirty="0" err="1">
                <a:solidFill>
                  <a:srgbClr val="EE0000"/>
                </a:solidFill>
                <a:latin typeface="Arial"/>
              </a:rPr>
              <a:t>diferentes</a:t>
            </a:r>
            <a:r>
              <a:rPr b="0" dirty="0">
                <a:solidFill>
                  <a:srgbClr val="EE0000"/>
                </a:solidFill>
                <a:latin typeface="Arial"/>
              </a:rPr>
              <a:t>. A Spec continua </a:t>
            </a:r>
            <a:r>
              <a:rPr b="0" dirty="0" err="1">
                <a:solidFill>
                  <a:srgbClr val="EE0000"/>
                </a:solidFill>
                <a:latin typeface="Arial"/>
              </a:rPr>
              <a:t>mandando</a:t>
            </a:r>
            <a:r>
              <a:rPr b="0" dirty="0">
                <a:solidFill>
                  <a:srgbClr val="EE0000"/>
                </a:solidFill>
                <a:latin typeface="Arial"/>
              </a:rPr>
              <a:t> no </a:t>
            </a:r>
            <a:r>
              <a:rPr b="0" dirty="0" err="1">
                <a:solidFill>
                  <a:srgbClr val="EE0000"/>
                </a:solidFill>
                <a:latin typeface="Arial"/>
              </a:rPr>
              <a:t>comportamento</a:t>
            </a:r>
            <a:r>
              <a:rPr b="0" dirty="0">
                <a:solidFill>
                  <a:srgbClr val="EE0000"/>
                </a:solidFill>
                <a:latin typeface="Arial"/>
              </a:rPr>
              <a:t>; o harness </a:t>
            </a:r>
            <a:r>
              <a:rPr b="0" dirty="0" err="1">
                <a:solidFill>
                  <a:srgbClr val="EE0000"/>
                </a:solidFill>
                <a:latin typeface="Arial"/>
              </a:rPr>
              <a:t>só</a:t>
            </a:r>
            <a:r>
              <a:rPr b="0" dirty="0">
                <a:solidFill>
                  <a:srgbClr val="EE0000"/>
                </a:solidFill>
                <a:latin typeface="Arial"/>
              </a:rPr>
              <a:t> decide o </a:t>
            </a:r>
            <a:r>
              <a:rPr b="0" dirty="0" err="1">
                <a:solidFill>
                  <a:srgbClr val="EE0000"/>
                </a:solidFill>
                <a:latin typeface="Arial"/>
              </a:rPr>
              <a:t>que</a:t>
            </a:r>
            <a:r>
              <a:rPr b="0" dirty="0">
                <a:solidFill>
                  <a:srgbClr val="EE0000"/>
                </a:solidFill>
                <a:latin typeface="Arial"/>
              </a:rPr>
              <a:t> o </a:t>
            </a:r>
            <a:r>
              <a:rPr b="0" dirty="0" err="1">
                <a:solidFill>
                  <a:srgbClr val="EE0000"/>
                </a:solidFill>
                <a:latin typeface="Arial"/>
              </a:rPr>
              <a:t>modelo</a:t>
            </a:r>
            <a:r>
              <a:rPr b="0" dirty="0">
                <a:solidFill>
                  <a:srgbClr val="EE0000"/>
                </a:solidFill>
                <a:latin typeface="Arial"/>
              </a:rPr>
              <a:t> </a:t>
            </a:r>
            <a:r>
              <a:rPr b="0" dirty="0" err="1">
                <a:solidFill>
                  <a:srgbClr val="EE0000"/>
                </a:solidFill>
                <a:latin typeface="Arial"/>
              </a:rPr>
              <a:t>enxerga</a:t>
            </a:r>
            <a:r>
              <a:rPr b="0" dirty="0">
                <a:solidFill>
                  <a:srgbClr val="EE0000"/>
                </a:solidFill>
                <a:latin typeface="Arial"/>
              </a:rPr>
              <a:t> e o </a:t>
            </a:r>
            <a:r>
              <a:rPr b="0" dirty="0" err="1">
                <a:solidFill>
                  <a:srgbClr val="EE0000"/>
                </a:solidFill>
                <a:latin typeface="Arial"/>
              </a:rPr>
              <a:t>que</a:t>
            </a:r>
            <a:r>
              <a:rPr b="0" dirty="0">
                <a:solidFill>
                  <a:srgbClr val="EE0000"/>
                </a:solidFill>
                <a:latin typeface="Arial"/>
              </a:rPr>
              <a:t> </a:t>
            </a:r>
            <a:r>
              <a:rPr b="0" dirty="0" err="1">
                <a:solidFill>
                  <a:srgbClr val="EE0000"/>
                </a:solidFill>
                <a:latin typeface="Arial"/>
              </a:rPr>
              <a:t>pode</a:t>
            </a:r>
            <a:r>
              <a:rPr b="0" dirty="0">
                <a:solidFill>
                  <a:srgbClr val="EE0000"/>
                </a:solidFill>
                <a:latin typeface="Arial"/>
              </a:rPr>
              <a:t> </a:t>
            </a:r>
            <a:r>
              <a:rPr b="0" dirty="0" err="1">
                <a:solidFill>
                  <a:srgbClr val="EE0000"/>
                </a:solidFill>
                <a:latin typeface="Arial"/>
              </a:rPr>
              <a:t>executar</a:t>
            </a:r>
            <a:r>
              <a:rPr b="0" dirty="0">
                <a:solidFill>
                  <a:srgbClr val="EE0000"/>
                </a:solidFill>
                <a:latin typeface="Arial"/>
              </a:rPr>
              <a:t>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688775" y="6556248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650" dirty="0"/>
          </a:p>
        </p:txBody>
      </p:sp>
      <p:sp>
        <p:nvSpPr>
          <p:cNvPr id="3" name="Text 1"/>
          <p:cNvSpPr/>
          <p:nvPr/>
        </p:nvSpPr>
        <p:spPr>
          <a:xfrm>
            <a:off x="640080" y="48463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D15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SÍNTESE TEÓRICA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640080" y="804672"/>
            <a:ext cx="1027176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F2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os alunos devem reter antes do laboratório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85800" y="1417320"/>
            <a:ext cx="2743200" cy="495300"/>
          </a:xfrm>
          <a:prstGeom prst="rect">
            <a:avLst/>
          </a:prstGeom>
          <a:solidFill>
            <a:srgbClr val="EEF2F6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Ideia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429000" y="1417320"/>
            <a:ext cx="8046720" cy="495300"/>
          </a:xfrm>
          <a:prstGeom prst="rect">
            <a:avLst/>
          </a:prstGeom>
          <a:solidFill>
            <a:srgbClr val="EEF2F6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Aplicação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1912620"/>
            <a:ext cx="2743200" cy="495300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429000" y="1912620"/>
            <a:ext cx="8046720" cy="495300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artefatos de modelagem governam a criação das Specs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2407920"/>
            <a:ext cx="2743200" cy="495300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Mapa de Specs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429000" y="2407920"/>
            <a:ext cx="8046720" cy="495300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Organiza a implementação antes de gerar código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85800" y="2903220"/>
            <a:ext cx="2743200" cy="495300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 aprovada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429000" y="2903220"/>
            <a:ext cx="8046720" cy="495300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Transforma comportamento em contrato verificável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85800" y="3398520"/>
            <a:ext cx="2743200" cy="495300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Segurança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429000" y="3398520"/>
            <a:ext cx="8046720" cy="495300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Rules/skills e MCP entram via harness; hooks, Git e CI continuam fora do modelo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85800" y="3893820"/>
            <a:ext cx="2743200" cy="495300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Revisão humana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429000" y="3893820"/>
            <a:ext cx="8046720" cy="495300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 lacunas, conflitos e alterações da baseline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85800" y="4800600"/>
            <a:ext cx="1060704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próxima aula transforma esses conceitos em procedimento executável no projeto dos alunos.</a:t>
            </a:r>
            <a:endParaRPr lang="en-US" sz="16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688775" y="6556248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650" dirty="0"/>
          </a:p>
        </p:txBody>
      </p:sp>
      <p:sp>
        <p:nvSpPr>
          <p:cNvPr id="3" name="Text 1"/>
          <p:cNvSpPr/>
          <p:nvPr/>
        </p:nvSpPr>
        <p:spPr>
          <a:xfrm>
            <a:off x="640080" y="48463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D15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LABORATÓRIO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640080" y="804672"/>
            <a:ext cx="768096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F2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Objetivo prático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79" y="1265355"/>
            <a:ext cx="11142617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>
              <a:buNone/>
            </a:pPr>
            <a:r>
              <a:rPr lang="en-US" i="1" dirty="0">
                <a:solidFill>
                  <a:srgbClr val="5B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grupo aplicará o fluxo SDD ao seu próprio projeto, usando os artefatos de modelagem já construídos.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31520" y="1828800"/>
            <a:ext cx="3383280" cy="1234440"/>
          </a:xfrm>
          <a:prstGeom prst="rect">
            <a:avLst/>
          </a:prstGeom>
          <a:solidFill>
            <a:srgbClr val="F2F4F7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87313">
              <a:buNone/>
            </a:pPr>
            <a:r>
              <a:rPr lang="en-US" sz="1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Entrada
</a:t>
            </a: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Repositório com artefatos de modelagem, README e decisões já registradas.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434840" y="1828800"/>
            <a:ext cx="3383280" cy="1234440"/>
          </a:xfrm>
          <a:prstGeom prst="rect">
            <a:avLst/>
          </a:prstGeom>
          <a:solidFill>
            <a:srgbClr val="F2F4F7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87313">
              <a:buNone/>
            </a:pPr>
            <a:r>
              <a:rPr lang="en-US" sz="1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Processo
</a:t>
            </a: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Agente gera mapa de Specs; grupo revisa; agente gera uma Spec individual.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138160" y="1828800"/>
            <a:ext cx="3383280" cy="1234440"/>
          </a:xfrm>
          <a:prstGeom prst="rect">
            <a:avLst/>
          </a:prstGeom>
          <a:solidFill>
            <a:srgbClr val="F2F4F7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87313">
              <a:buNone/>
            </a:pPr>
            <a:r>
              <a:rPr lang="en-US" sz="1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Saída
</a:t>
            </a: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Mapa revisado, uma Spec aprovada e registro de questões em aberto.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4069080"/>
            <a:ext cx="1060704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D15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implementação pode começar no laboratório somente depois da aprovação da Spec escolhida.
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D15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uso de VS Code exige confirmar quais camadas de segurança estão efetivamente ativas.</a:t>
            </a:r>
            <a:endParaRPr lang="en-US" sz="16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688775" y="6556248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650" dirty="0"/>
          </a:p>
        </p:txBody>
      </p:sp>
      <p:sp>
        <p:nvSpPr>
          <p:cNvPr id="3" name="Text 1"/>
          <p:cNvSpPr/>
          <p:nvPr/>
        </p:nvSpPr>
        <p:spPr>
          <a:xfrm>
            <a:off x="640080" y="48463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D15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LABORATÓRIO · PARTE 1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640080" y="804672"/>
            <a:ext cx="768096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F2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Preparar a baseline do projeto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85800" y="1417320"/>
            <a:ext cx="3657600" cy="525780"/>
          </a:xfrm>
          <a:prstGeom prst="rect">
            <a:avLst/>
          </a:prstGeom>
          <a:solidFill>
            <a:srgbClr val="EEF2F6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Tarefa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343400" y="1417320"/>
            <a:ext cx="7178040" cy="525780"/>
          </a:xfrm>
          <a:prstGeom prst="rect">
            <a:avLst/>
          </a:prstGeom>
          <a:solidFill>
            <a:srgbClr val="EEF2F6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Evidência esperada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1943100"/>
            <a:ext cx="3657600" cy="525780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Conferir artefatos de modelagem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343400" y="1943100"/>
            <a:ext cx="7178040" cy="525780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Arquivos localizados e legíveis no repositório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2468880"/>
            <a:ext cx="3657600" cy="525780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Identificar decisões já tomadas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343400" y="2468880"/>
            <a:ext cx="7178040" cy="525780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ADR, drivers ou registro equivalente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85800" y="2994660"/>
            <a:ext cx="3657600" cy="525780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Identificar decisões ausentes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343400" y="2994660"/>
            <a:ext cx="7178040" cy="525780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Lista inicial de possíveis OPEN-XX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85800" y="3520440"/>
            <a:ext cx="3657600" cy="525780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Configurar instrução do agente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343400" y="3520440"/>
            <a:ext cx="7178040" cy="525780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Arquivo de instruções no repositório, conforme a ferramenta adotada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85800" y="4046220"/>
            <a:ext cx="3657600" cy="525780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Verificar camadas de segurança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343400" y="4046220"/>
            <a:ext cx="7178040" cy="525780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Descrição do ambiente: Cursor, Claude Code, VS Code A ou VS Code B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85800" y="4983480"/>
            <a:ext cx="105156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atividade começa por leitura e organização. Sem baseline clara, a Spec tende a virar uma reescrita improvisada do projeto.</a:t>
            </a:r>
            <a:endParaRPr lang="en-US" sz="16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688775" y="6556248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650" dirty="0"/>
          </a:p>
        </p:txBody>
      </p:sp>
      <p:sp>
        <p:nvSpPr>
          <p:cNvPr id="3" name="Text 1"/>
          <p:cNvSpPr/>
          <p:nvPr/>
        </p:nvSpPr>
        <p:spPr>
          <a:xfrm>
            <a:off x="640080" y="48463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D15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LABORATÓRIO · PARTE 2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640079" y="804672"/>
            <a:ext cx="10384971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F2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Gerar o mapa de Specs com prompt padronizado</a:t>
            </a:r>
            <a:endParaRPr lang="en-US" sz="2800" dirty="0"/>
          </a:p>
        </p:txBody>
      </p:sp>
      <p:sp>
        <p:nvSpPr>
          <p:cNvPr id="6" name="Text 4">
            <a:hlinkClick r:id="rId3"/>
          </p:cNvPr>
          <p:cNvSpPr/>
          <p:nvPr/>
        </p:nvSpPr>
        <p:spPr>
          <a:xfrm>
            <a:off x="685800" y="214884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u="sng" dirty="0">
                <a:solidFill>
                  <a:srgbClr val="244C73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Abrir PDF: Prompt_SDD_Specs.pdf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2880360"/>
            <a:ext cx="5349240" cy="393192"/>
          </a:xfrm>
          <a:prstGeom prst="rect">
            <a:avLst/>
          </a:prstGeom>
          <a:solidFill>
            <a:srgbClr val="EEF2F6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agente deve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035040" y="2880360"/>
            <a:ext cx="5394960" cy="393192"/>
          </a:xfrm>
          <a:prstGeom prst="rect">
            <a:avLst/>
          </a:prstGeom>
          <a:solidFill>
            <a:srgbClr val="EEF2F6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agente não deve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3273552"/>
            <a:ext cx="5349240" cy="393192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Ler a baseline antes da decomposição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035040" y="3273552"/>
            <a:ext cx="5394960" cy="393192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Gerar código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85800" y="3666744"/>
            <a:ext cx="5349240" cy="393192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Agrupar comportamentos por capacidade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035040" y="3666744"/>
            <a:ext cx="5394960" cy="393192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Transformar cada RF em uma Spec automaticamente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85800" y="4059936"/>
            <a:ext cx="5349240" cy="393192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Registrar RF, RB, RNF, UC, entidades, drivers e ADRs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035040" y="4059936"/>
            <a:ext cx="5394960" cy="393192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Escolher tecnologias ainda não decididas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85800" y="4453128"/>
            <a:ext cx="5349240" cy="393192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Parar após o mapa de Specs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035040" y="4453128"/>
            <a:ext cx="5394960" cy="393192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Produzir todas as Specs sem revisão humana</a:t>
            </a:r>
            <a:endParaRPr lang="en-US" sz="16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688775" y="6556248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650" dirty="0"/>
          </a:p>
        </p:txBody>
      </p:sp>
      <p:sp>
        <p:nvSpPr>
          <p:cNvPr id="3" name="Text 1"/>
          <p:cNvSpPr/>
          <p:nvPr/>
        </p:nvSpPr>
        <p:spPr>
          <a:xfrm>
            <a:off x="640080" y="48463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D15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LABORATÓRIO · PARTE 3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640080" y="804672"/>
            <a:ext cx="768096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F2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Revisar o mapa e aprovar uma Spec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85800" y="2214154"/>
            <a:ext cx="5806440" cy="2011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D15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Verificar se cada Spec entrega comportamento observável ou uma fundação técnica necessária.
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D15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Conferir dependências: uma Spec não deve exigir comportamento ainda inexistente.
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D15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Eliminar Specs excessivamente amplas ou puramente técnicas sem valor verificável.
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D15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Registrar OPEN-XX para decisões não tomadas.
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D15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Selecionar uma Spec viável para implementação inicial.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990805" y="1554480"/>
            <a:ext cx="4697969" cy="1874520"/>
          </a:xfrm>
          <a:prstGeom prst="rect">
            <a:avLst/>
          </a:prstGeom>
          <a:solidFill>
            <a:srgbClr val="F2F4F7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87313">
              <a:buNone/>
            </a:pPr>
            <a:r>
              <a:rPr lang="en-US" sz="1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Perguntas de revisão
</a:t>
            </a: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 Spec é pequena? É verificável? Tem rastreabilidade? Preserva as regras de negócio? Depende de decisão ausente?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990805" y="3840480"/>
            <a:ext cx="4697969" cy="1051560"/>
          </a:xfrm>
          <a:prstGeom prst="rect">
            <a:avLst/>
          </a:prstGeom>
          <a:solidFill>
            <a:srgbClr val="E8F0F7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87313">
              <a:buNone/>
            </a:pPr>
            <a:r>
              <a:rPr lang="en-US" sz="1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Saída da etapa
</a:t>
            </a: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Spec aprovada para implementação e um mapa ajustado pelo grupo.</a:t>
            </a:r>
            <a:endParaRPr lang="en-US" sz="16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688775" y="6556248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650" dirty="0"/>
          </a:p>
        </p:txBody>
      </p:sp>
      <p:sp>
        <p:nvSpPr>
          <p:cNvPr id="3" name="Text 1"/>
          <p:cNvSpPr/>
          <p:nvPr/>
        </p:nvSpPr>
        <p:spPr>
          <a:xfrm>
            <a:off x="640080" y="48463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D15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LABORATÓRIO · PARTE 4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640080" y="804672"/>
            <a:ext cx="768096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F2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Implementar a Spec com controle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1554479"/>
            <a:ext cx="2331720" cy="1746069"/>
          </a:xfrm>
          <a:prstGeom prst="rect">
            <a:avLst/>
          </a:prstGeom>
          <a:solidFill>
            <a:srgbClr val="F2F4F7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" tIns="1397" rIns="1397" bIns="1397" rtlCol="0" anchor="ctr">
            <a:noAutofit/>
          </a:bodyPr>
          <a:lstStyle/>
          <a:p>
            <a:pPr marL="87313">
              <a:buNone/>
            </a:pPr>
            <a:r>
              <a:rPr lang="en-US" sz="1600" b="1" dirty="0">
                <a:solidFill>
                  <a:srgbClr val="D15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
</a:t>
            </a:r>
            <a:r>
              <a:rPr lang="en-US" sz="1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Novo contexto
</a:t>
            </a: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Forneça ao agente somente a Spec aprovada e instruções do projeto.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154680" y="2212848"/>
            <a:ext cx="594360" cy="0"/>
          </a:xfrm>
          <a:prstGeom prst="line">
            <a:avLst/>
          </a:prstGeom>
          <a:noFill/>
          <a:ln w="16510">
            <a:solidFill>
              <a:srgbClr val="D8DEE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 sz="1600"/>
          </a:p>
        </p:txBody>
      </p:sp>
      <p:sp>
        <p:nvSpPr>
          <p:cNvPr id="7" name="Text 5"/>
          <p:cNvSpPr/>
          <p:nvPr/>
        </p:nvSpPr>
        <p:spPr>
          <a:xfrm>
            <a:off x="3840480" y="1554479"/>
            <a:ext cx="2331720" cy="1746069"/>
          </a:xfrm>
          <a:prstGeom prst="rect">
            <a:avLst/>
          </a:prstGeom>
          <a:solidFill>
            <a:srgbClr val="F2F4F7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marL="87313">
              <a:buNone/>
            </a:pPr>
            <a:r>
              <a:rPr lang="en-US" sz="1600" b="1" dirty="0">
                <a:solidFill>
                  <a:srgbClr val="D15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
</a:t>
            </a:r>
            <a:r>
              <a:rPr lang="en-US" sz="1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Código
</a:t>
            </a: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Peça implementação mínima para atender aos critérios de aceite.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63640" y="2212848"/>
            <a:ext cx="594360" cy="0"/>
          </a:xfrm>
          <a:prstGeom prst="line">
            <a:avLst/>
          </a:prstGeom>
          <a:noFill/>
          <a:ln w="16510">
            <a:solidFill>
              <a:srgbClr val="D8DEE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 sz="1600"/>
          </a:p>
        </p:txBody>
      </p:sp>
      <p:sp>
        <p:nvSpPr>
          <p:cNvPr id="9" name="Text 7"/>
          <p:cNvSpPr/>
          <p:nvPr/>
        </p:nvSpPr>
        <p:spPr>
          <a:xfrm>
            <a:off x="6949440" y="1554479"/>
            <a:ext cx="2331720" cy="1746069"/>
          </a:xfrm>
          <a:prstGeom prst="rect">
            <a:avLst/>
          </a:prstGeom>
          <a:solidFill>
            <a:srgbClr val="F2F4F7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marL="87313">
              <a:buNone/>
            </a:pPr>
            <a:r>
              <a:rPr lang="en-US" sz="1600" b="1" dirty="0">
                <a:solidFill>
                  <a:srgbClr val="D15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
</a:t>
            </a:r>
            <a:r>
              <a:rPr lang="en-US" sz="1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
</a:t>
            </a: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 os testes e verifique invariantes e RNFs aplicáveis.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9372600" y="2212848"/>
            <a:ext cx="594360" cy="0"/>
          </a:xfrm>
          <a:prstGeom prst="line">
            <a:avLst/>
          </a:prstGeom>
          <a:noFill/>
          <a:ln w="16510">
            <a:solidFill>
              <a:srgbClr val="D8DEE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 sz="1600"/>
          </a:p>
        </p:txBody>
      </p:sp>
      <p:sp>
        <p:nvSpPr>
          <p:cNvPr id="11" name="Text 9"/>
          <p:cNvSpPr/>
          <p:nvPr/>
        </p:nvSpPr>
        <p:spPr>
          <a:xfrm>
            <a:off x="10058400" y="1554479"/>
            <a:ext cx="1600200" cy="1746069"/>
          </a:xfrm>
          <a:prstGeom prst="rect">
            <a:avLst/>
          </a:prstGeom>
          <a:solidFill>
            <a:srgbClr val="F2F4F7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" tIns="1397" rIns="1397" bIns="1397" rtlCol="0" anchor="ctr">
            <a:noAutofit/>
          </a:bodyPr>
          <a:lstStyle/>
          <a:p>
            <a:pPr marL="87313">
              <a:buNone/>
            </a:pPr>
            <a:r>
              <a:rPr lang="en-US" sz="1600" b="1" dirty="0">
                <a:solidFill>
                  <a:srgbClr val="D15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
</a:t>
            </a:r>
            <a:r>
              <a:rPr lang="en-US" sz="1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Registro
</a:t>
            </a: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Anote divergências e decisões pendentes.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1520" y="3703319"/>
            <a:ext cx="3840480" cy="421465"/>
          </a:xfrm>
          <a:prstGeom prst="rect">
            <a:avLst/>
          </a:prstGeom>
          <a:solidFill>
            <a:srgbClr val="EEF2F6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Durante a implementação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72000" y="3703319"/>
            <a:ext cx="6766560" cy="421465"/>
          </a:xfrm>
          <a:prstGeom prst="rect">
            <a:avLst/>
          </a:prstGeom>
          <a:solidFill>
            <a:srgbClr val="EEF2F6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Resposta esperada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31520" y="4023359"/>
            <a:ext cx="3840480" cy="421465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código viola a Spec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72000" y="4023359"/>
            <a:ext cx="6766560" cy="421465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Corrigir a implementação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31520" y="4343399"/>
            <a:ext cx="3840480" cy="421465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Spec parece errada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72000" y="4343399"/>
            <a:ext cx="6766560" cy="421465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Propor alteração da baseline para aprovação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31520" y="4663439"/>
            <a:ext cx="3840480" cy="421465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Falta decisão técnica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572000" y="4663439"/>
            <a:ext cx="6766560" cy="421465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Registrar OPEN-XX ou consultar o professor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31520" y="4983479"/>
            <a:ext cx="3840480" cy="421465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Ação perigosa do agente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572000" y="4983479"/>
            <a:ext cx="6766560" cy="421465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Interromper ou exigir confirmação conforme a camada de segurança</a:t>
            </a:r>
            <a:endParaRPr lang="en-US" sz="16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688775" y="6556248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650" dirty="0"/>
          </a:p>
        </p:txBody>
      </p:sp>
      <p:sp>
        <p:nvSpPr>
          <p:cNvPr id="3" name="Text 1"/>
          <p:cNvSpPr/>
          <p:nvPr/>
        </p:nvSpPr>
        <p:spPr>
          <a:xfrm>
            <a:off x="640080" y="48463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D15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ENTREGA DO LABORATÓRIO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640080" y="804672"/>
            <a:ext cx="768096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F2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Checklist do grupo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85800" y="1417320"/>
            <a:ext cx="3657600" cy="483326"/>
          </a:xfrm>
          <a:prstGeom prst="rect">
            <a:avLst/>
          </a:prstGeom>
          <a:solidFill>
            <a:srgbClr val="EEF2F6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Item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343400" y="1417320"/>
            <a:ext cx="1554480" cy="483326"/>
          </a:xfrm>
          <a:prstGeom prst="rect">
            <a:avLst/>
          </a:prstGeom>
          <a:solidFill>
            <a:srgbClr val="EEF2F6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Obrigatório?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897880" y="1417320"/>
            <a:ext cx="5623560" cy="483326"/>
          </a:xfrm>
          <a:prstGeom prst="rect">
            <a:avLst/>
          </a:prstGeom>
          <a:solidFill>
            <a:srgbClr val="EEF2F6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Evidência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" y="1900646"/>
            <a:ext cx="3657600" cy="483326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Mapa de Specs gerado e revisado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343400" y="1900646"/>
            <a:ext cx="1554480" cy="483326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897880" y="1900646"/>
            <a:ext cx="5623560" cy="483326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Arquivo versionado no repositório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85800" y="2383971"/>
            <a:ext cx="3657600" cy="483326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Spec individual aprovada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343400" y="2383971"/>
            <a:ext cx="1554480" cy="483326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897880" y="2383971"/>
            <a:ext cx="5623560" cy="483326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 com rastreabilidade e critérios de aceite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85800" y="2867297"/>
            <a:ext cx="3657600" cy="483326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Lista de OPEN-XX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343400" y="2867297"/>
            <a:ext cx="1554480" cy="483326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Sim, se houver lacunas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897880" y="2867297"/>
            <a:ext cx="5623560" cy="483326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Questões em aberto explícitas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85800" y="3350623"/>
            <a:ext cx="3657600" cy="483326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Configuração de segurança descrita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343400" y="3350623"/>
            <a:ext cx="1554480" cy="483326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897880" y="3350623"/>
            <a:ext cx="5623560" cy="483326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Ferramenta usada e camadas ativas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85800" y="3833949"/>
            <a:ext cx="3657600" cy="483326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Implementação inicial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343400" y="3833949"/>
            <a:ext cx="1554480" cy="483326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Conforme tempo de aula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897880" y="3833949"/>
            <a:ext cx="5623560" cy="483326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Código associado a uma Spec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85800" y="4317274"/>
            <a:ext cx="3657600" cy="483326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Testes ou verificação manual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343400" y="4317274"/>
            <a:ext cx="1554480" cy="483326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897880" y="4317274"/>
            <a:ext cx="5623560" cy="483326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 documentado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85800" y="5166360"/>
            <a:ext cx="1042416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B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critério de entrega avalia a qualidade do processo, não somente a quantidade de código produzido.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4203</Words>
  <Application>Microsoft Office PowerPoint</Application>
  <PresentationFormat>Widescreen</PresentationFormat>
  <Paragraphs>562</Paragraphs>
  <Slides>34</Slides>
  <Notes>27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34</vt:i4>
      </vt:variant>
    </vt:vector>
  </HeadingPairs>
  <TitlesOfParts>
    <vt:vector size="37" baseType="lpstr">
      <vt:lpstr>Arial</vt:lpstr>
      <vt:lpstr>Georgia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Engenharia da Computação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Spec-Driven Development</dc:title>
  <dc:subject>Modelagem de Software - Semana 6</dc:subject>
  <dc:creator>Prof. Nilton Canto</dc:creator>
  <cp:lastModifiedBy>Nilton Furtado Canto</cp:lastModifiedBy>
  <cp:revision>4</cp:revision>
  <dcterms:created xsi:type="dcterms:W3CDTF">2026-09-15T16:34:36Z</dcterms:created>
  <dcterms:modified xsi:type="dcterms:W3CDTF">2026-09-17T01:20:31Z</dcterms:modified>
</cp:coreProperties>
</file>