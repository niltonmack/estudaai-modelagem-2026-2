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0" autoAdjust="0"/>
    <p:restoredTop sz="94610"/>
  </p:normalViewPr>
  <p:slideViewPr>
    <p:cSldViewPr snapToGrid="0" snapToObjects="1">
      <p:cViewPr>
        <p:scale>
          <a:sx n="88" d="100"/>
          <a:sy n="88" d="100"/>
        </p:scale>
        <p:origin x="19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33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Base visual: Modelagem-Software-Semana06.pptx.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Slides originais: Modelagem-Software-Semana06.pptx, especialmente slides 2 a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README EstudaAI: docs e stack do projeto.
Visão do produto: duas formas de utilização.
Casos de uso UC01 e UC02.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Prompt SDD proposto na conversa: Modelagem -&gt; Mapa de Specs -&gt; Spec aprovada -&gt; Implementação.
Modelo conceitual, RF, RNF, RB e ADRs do EstudaAI.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Requisitos e regras do EstudaAI em EARS.
Drivers arquiteturais do EstudaAI: decisões, restrições e cenários.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Fluxo didático definido na conversa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README do EstudaAI: lista dos documentos de modelagem.
Drivers arquiteturais: fontes e critério de seleção.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Prompt SDD: seção de objetivo e regras de decomposição.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Requisitos funcionais do EstudaAI.
UC01 e UC02.
ADRs do EstudaAI.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Prompt SDD: estrutura da Spec individual.
Drivers e ADRs do EstudaAI: decisões em aberto.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RF07, RB05, RB06 e UC01 do EstudaAI.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Drivers arquiteturais do EstudaAI: recorte do que os drivers não decidem.
ADRs: decisões deliberadamente não registradas.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Fluxo didático sugerido na conversa.
Prompt SDD: regra fundamental.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Tutorial de hooks: instrução não é garantia; hook executa fora do modelo.
PPT de hooks: problema concreto de ações perigosas.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Tutorial de hooks, seção 2: instrução não é garantia.
Tutorial de hooks, seção 11: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Tutorial de hooks, seção 3: ciclo completo.
PPT de hooks, slides de definição e ciclo de vida.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Tutorial de hooks, seção 7: matriz de decisão.
PPT de hooks, slides de vereditos e faixas.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Tutorial de hooks, seção 11: VS Code, caminhos A, B e C.
Tutorial de hooks, seção 11.4: resumo por 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Tutorial de hooks, seção 16: defesa em camadas.
PPT de hooks, slide Defesa em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Todos os materiais anexos: aula 6, tutorial de hooks e PPT de 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Prompt SDD e materiais de 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README do EstudaAI: lista de artefatos.
Tutorial de hooks: VS Code e defesa em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PDF gerado: Prompt_SDD_Specs.pdf.
Prompt SDD da conversa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Prompt SDD: revisão humana do mapa e geração de uma Spec por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Prompt SDD: regra fundamental.
Tutorial de hooks: segurança e defesa em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Material de hooks: checklist de entrega adaptado para o laboratório de SDD.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Prompt_SDD_Specs.pdf" TargetMode="External"/><Relationship Id="rId4" Type="http://schemas.openxmlformats.org/officeDocument/2006/relationships/hyperlink" Target="file:///C:\Users\nilton\Desktop\DocMACK\MATERIAL\02_MS\2026-2\aulas\Prompt_SDD_Specs.pdf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0" y="2674620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DE SOFTWARE - SEMANA 6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2999232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Spec-Driven Development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Modelagem, especificação, governança de agentes e laboratório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6 · OBJETIVOS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será reorganizado nesta aula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89611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</a:t>
            </a:r>
            <a:r>
              <a:rPr lang="en-US" sz="1400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conceituais, segurança de uso e prática orientada por Specs</a:t>
            </a:r>
            <a:r>
              <a:rPr lang="en-US" sz="950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383280" cy="1915886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Aula teórica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de SDD, papel da baseline de modelagem e </a:t>
            </a:r>
            <a:r>
              <a:rPr lang="en-US" sz="1600" dirty="0" err="1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trabalho.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828800"/>
            <a:ext cx="3383280" cy="1915886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8256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Segurança de uso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Instruções, hooks, limitações do VS Code e defesa em camadas.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38160" y="1828800"/>
            <a:ext cx="3383280" cy="1915886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8256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Laboratório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do mapa de Specs, revisão humana e implementação controlada</a:t>
            </a:r>
            <a:r>
              <a:rPr lang="en-US" sz="14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 CONDUTOR · ESTUDAAI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 usado como exemplo de baseline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79" y="1417320"/>
            <a:ext cx="8451669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EstudaAI é uma aplicação web para recomendação de trilhas de aprendizagem. O produto trabalha com trilhas pré-definidas, curadas por especialistas, e trilhas personalizadas com apoio de LLM.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377440" cy="1161288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Escolhe, cria ou acompanha trilhas de aprendizagem.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46120" y="2606039"/>
            <a:ext cx="2377440" cy="1161287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Mantém catálogo, categorias, trilhas e etapas.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0" y="2606040"/>
            <a:ext cx="2377440" cy="1161286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LLM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Apoia a criação de trilhas personalizadas e conversa sobre a trilha.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58200" y="2606040"/>
            <a:ext cx="2377440" cy="1161284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Mantém a curadoria separada das sugestões automáticas.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2560320" cy="30175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4069080"/>
            <a:ext cx="8001000" cy="30175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 na baseline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370832"/>
            <a:ext cx="256032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RF/RNF/RB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4370832"/>
            <a:ext cx="800100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Definem comportamento, qualidade e regras obrigatórias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672584"/>
            <a:ext cx="256032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4672584"/>
            <a:ext cx="800100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Organizam fluxos do aluno e do administrador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974336"/>
            <a:ext cx="256032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conceitual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4974336"/>
            <a:ext cx="800100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Estabelece entidades e relações do domínio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5276088"/>
            <a:ext cx="256032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e ADRs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5276088"/>
            <a:ext cx="800100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Limitam decisões arquiteturais e escolhas caras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Definição operacional de SDD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 curso, SDD é tratado como disciplina de desenvolvimento baseada em especificações versionadas e verificáveis.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37744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Artefatos de modelagem aprovados e decisões conhecidas.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82112" y="2542032"/>
            <a:ext cx="466779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8" name="Text 6"/>
          <p:cNvSpPr/>
          <p:nvPr/>
        </p:nvSpPr>
        <p:spPr>
          <a:xfrm>
            <a:off x="3768633" y="1874520"/>
            <a:ext cx="237744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implementável, rastreável e revisável.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27936" y="2542032"/>
            <a:ext cx="434558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0" name="Text 8"/>
          <p:cNvSpPr/>
          <p:nvPr/>
        </p:nvSpPr>
        <p:spPr>
          <a:xfrm>
            <a:off x="6831879" y="1874520"/>
            <a:ext cx="2360013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subordinada à Spec aprovada.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15994" y="2542032"/>
            <a:ext cx="428897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2" name="Text 10"/>
          <p:cNvSpPr/>
          <p:nvPr/>
        </p:nvSpPr>
        <p:spPr>
          <a:xfrm>
            <a:off x="9868993" y="1874520"/>
            <a:ext cx="1835328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Aceite, testes e divergências.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108813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 não substitui a modelagem; ela transforma uma parte da modelagem em contrato de implementação.
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revisão não pergunta somente se o código está legível. Ela verifica se o código implementa a Spec aprovada.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 precisa mudar junto com o código quando a decisão humana alterar o comportamento esperado.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79" y="687542"/>
            <a:ext cx="10750731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especificar antes de implementar com agente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965960" cy="59436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06040" y="1417320"/>
            <a:ext cx="4114800" cy="59436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no uso direto do agente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20840" y="1417320"/>
            <a:ext cx="4800600" cy="59436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esperada no SDD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9659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Muitos artefatos de modelagem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06040" y="2011680"/>
            <a:ext cx="41148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escolhe partes convenientes do contexto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2011680"/>
            <a:ext cx="48006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baseline é analisada antes do mapa de Specs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19659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transversais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2606040"/>
            <a:ext cx="41148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 desempenho ficam implícitos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2606040"/>
            <a:ext cx="48006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 aparece nos critérios da Spec afetada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19659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em aberto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3200400"/>
            <a:ext cx="41148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completa lacunas sem avisar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3200400"/>
            <a:ext cx="48006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OPEN-XX registra a decisão pendente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19659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gerado rápido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3794760"/>
            <a:ext cx="41148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perde referência objetiva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3794760"/>
            <a:ext cx="48006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 e invariantes guiam a verificação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892040"/>
            <a:ext cx="104241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disciplina reduz ambiguidade operacional. O agente deixa de receber uma intenção ampla e passa a trabalhar sobre uma unidade de comportamento previamente delimitada.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DIDÁTICO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Sequência adotada para os projetos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24028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Visão, personas, RF, RNF, RB, modelo, UC, drivers e ADRs.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17520" y="2651760"/>
            <a:ext cx="54864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7" name="Text 5"/>
          <p:cNvSpPr/>
          <p:nvPr/>
        </p:nvSpPr>
        <p:spPr>
          <a:xfrm>
            <a:off x="3657600" y="1965960"/>
            <a:ext cx="224028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 lnSpcReduction="10000"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Specs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ordenada, rastreável e dependente da baseline.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29400" y="2651760"/>
            <a:ext cx="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224028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aprovada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 de desenvolvimento com critérios de aceite.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55480" y="2651760"/>
            <a:ext cx="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1" name="Text 9"/>
          <p:cNvSpPr/>
          <p:nvPr/>
        </p:nvSpPr>
        <p:spPr>
          <a:xfrm>
            <a:off x="9509760" y="1965960"/>
            <a:ext cx="224028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Código, testes e verificação contra a Spec.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105156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projeto da turma deve repetir esse fluxo com seus próprios artefatos de modelagem.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aprovação humana ocorre no mapa e em cada Spec individual.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implementação começa somente depois que a Spec em execução estiver revisada.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79" y="804672"/>
            <a:ext cx="9035143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agente deve ler antes de propor Specs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743200" cy="46482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de artefatos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83280" y="1417320"/>
            <a:ext cx="8046720" cy="46482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que o agente deve responder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82140"/>
            <a:ext cx="274320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e personas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882140"/>
            <a:ext cx="804672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valor o sistema entrega e para quem?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46960"/>
            <a:ext cx="274320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RF, RNF e RB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346960"/>
            <a:ext cx="804672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obrigações e restrições devem ser preservadas?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11780"/>
            <a:ext cx="274320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811780"/>
            <a:ext cx="804672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fluxos principais, alternativos e exceções existem?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276600"/>
            <a:ext cx="274320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conceitual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3276600"/>
            <a:ext cx="804672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entidades, relações e invariantes pertencem ao domínio?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741420"/>
            <a:ext cx="274320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e ADRs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3741420"/>
            <a:ext cx="804672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decisões arquiteturais já restringem a solução?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10469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baseline não é um anexo decorativo. Ela funciona como fonte de verdade para decompor o trabalho, registrar decisões em aberto e impedir que o agente complete lacunas sem revisão.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SPECS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Primeiro produto do agente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79" y="1259697"/>
            <a:ext cx="10911841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en-US" i="1" dirty="0" err="1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r>
              <a:rPr lang="en-US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specs é uma lista ordenada de unidades implementáveis. Ele ainda não é implementação.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12519" y="2516777"/>
            <a:ext cx="4358641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comportamentos do sistema e dependências entre eles.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 requisitos relacionados por fluxo ou capacidade observável.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RF, RB, RNF, UC, entidades, drivers e ADRs de cada unidade.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por que a ordem proposta permite evolução incremental.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Interrompe o processo antes de gerar código ou detalhes não decididos.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7959" y="1783080"/>
            <a:ext cx="4297680" cy="2468880"/>
          </a:xfrm>
          <a:prstGeom prst="rect">
            <a:avLst/>
          </a:prstGeom>
          <a:solidFill>
            <a:srgbClr val="FCEBE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aceitável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"Implementar backend", "criar banco" ou "fazer frontend" não são boas Specs. São recortes técnicos amplos, com pouco valor de verificação.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7959" y="4434840"/>
            <a:ext cx="4297680" cy="10515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qualidade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Spec deve terminar com comportamento verificável, mesmo que interno ao sistema.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· ESTUDAAI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provável de Specs para discussão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85800" cy="38238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4572000" cy="38238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provável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97880" y="1417320"/>
            <a:ext cx="5623560" cy="38238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principal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99705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799705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 arquitetural do projeto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97880" y="1799705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ADR-001, ADR-004, RNF07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182091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182091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e autenticação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97880" y="2182091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RF01, RF02, RB01, RB02, RNF05, RNF06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564476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564476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do catálogo de trilhas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97880" y="2564476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RF03, Categoria, Trilha, Etapa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2946862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2946862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ou retomar uma trilha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97880" y="2946862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UC01, RB04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329247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329247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Visualizar trilha e progresso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97880" y="3329247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RF05, RF06, RB06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711633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711633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conclusão de etapa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97880" y="3711633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RF07, RB05, RB06, RB12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4094018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094018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Administração do catálogo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97880" y="4094018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RF09-RF12, RB03, RB07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4476404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4476404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Remoção com impacto em progresso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97880" y="4476404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RB11, UC02-A5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" y="4858789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009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25880" y="4858789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Trilha personalizada com LLM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97880" y="4858789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RF04, RB08, RB09, ADR-002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080" y="5241175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25880" y="5241175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 com agente LLM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97880" y="5241175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RF08, RB10, ADR-002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" y="5806440"/>
            <a:ext cx="10607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lista é exemplo de discussão. O agente deve justificar a decomposição a partir dos artefatos do projeto.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APROVADA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mínima de uma Spec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286000" cy="48577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1417320"/>
            <a:ext cx="8595360" cy="48577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esperado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3095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</a:t>
            </a:r>
            <a:endParaRPr lang="en-US" sz="1600" b="1" dirty="0"/>
          </a:p>
        </p:txBody>
      </p:sp>
      <p:sp>
        <p:nvSpPr>
          <p:cNvPr id="8" name="Text 6"/>
          <p:cNvSpPr/>
          <p:nvPr/>
        </p:nvSpPr>
        <p:spPr>
          <a:xfrm>
            <a:off x="2926080" y="1903095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nome, objetivo e valor entregue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88870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2926080" y="2388870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RF, RB, RNF, UC, entidades, drivers e ADRs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74645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</a:t>
            </a:r>
            <a:endParaRPr lang="en-US" sz="1600" b="1" dirty="0"/>
          </a:p>
        </p:txBody>
      </p:sp>
      <p:sp>
        <p:nvSpPr>
          <p:cNvPr id="12" name="Text 10"/>
          <p:cNvSpPr/>
          <p:nvPr/>
        </p:nvSpPr>
        <p:spPr>
          <a:xfrm>
            <a:off x="2926080" y="2874645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Incluído e fora do escopo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60420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</a:t>
            </a:r>
            <a:endParaRPr lang="en-US" sz="1600" b="1" dirty="0"/>
          </a:p>
        </p:txBody>
      </p:sp>
      <p:sp>
        <p:nvSpPr>
          <p:cNvPr id="14" name="Text 12"/>
          <p:cNvSpPr/>
          <p:nvPr/>
        </p:nvSpPr>
        <p:spPr>
          <a:xfrm>
            <a:off x="2926080" y="3360420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Pré-condições, fluxo principal, alternativos e exceções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846195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Invariantes</a:t>
            </a:r>
            <a:endParaRPr lang="en-US" sz="1600" b="1" dirty="0"/>
          </a:p>
        </p:txBody>
      </p:sp>
      <p:sp>
        <p:nvSpPr>
          <p:cNvPr id="16" name="Text 14"/>
          <p:cNvSpPr/>
          <p:nvPr/>
        </p:nvSpPr>
        <p:spPr>
          <a:xfrm>
            <a:off x="2926080" y="3846195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que a implementação não pode violar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331970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aceitação</a:t>
            </a:r>
            <a:endParaRPr lang="en-US" sz="1600" b="1" dirty="0"/>
          </a:p>
        </p:txBody>
      </p:sp>
      <p:sp>
        <p:nvSpPr>
          <p:cNvPr id="18" name="Text 16"/>
          <p:cNvSpPr/>
          <p:nvPr/>
        </p:nvSpPr>
        <p:spPr>
          <a:xfrm>
            <a:off x="2926080" y="4331970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observáveis no formato Dado, Quando, Então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817745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em aberto</a:t>
            </a:r>
            <a:endParaRPr lang="en-US" sz="1600" b="1" dirty="0"/>
          </a:p>
        </p:txBody>
      </p:sp>
      <p:sp>
        <p:nvSpPr>
          <p:cNvPr id="20" name="Text 18"/>
          <p:cNvSpPr/>
          <p:nvPr/>
        </p:nvSpPr>
        <p:spPr>
          <a:xfrm>
            <a:off x="2926080" y="4817745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OPEN-XX para decisão ainda não tomada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10652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</a:t>
            </a: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não deve transformar o modelo conceitual em esquema físico sem decisão explícita. Também não deve escolher bibliotecas, banco ou fila se esses pontos permanecem em aberto.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Critérios verificáveis de comportamento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3246120" cy="123444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inicial necessário para avaliar o comportamento.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34840" y="1463040"/>
            <a:ext cx="3246120" cy="123444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Ação, evento ou estímulo executado pelo usuário ou sistema.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83880" y="1463040"/>
            <a:ext cx="3246120" cy="123444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esperado, regra preservada ou erro produzido.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103120" cy="40005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critério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88920" y="3246120"/>
            <a:ext cx="8641080" cy="40005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646170"/>
            <a:ext cx="2103120" cy="40005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88920" y="3646170"/>
            <a:ext cx="8641080" cy="40005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aluno autenticado acompanhando uma trilha com três etapas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046220"/>
            <a:ext cx="2103120" cy="40005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4046220"/>
            <a:ext cx="8641080" cy="40005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marca explicitamente a segunda etapa como concluída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446270"/>
            <a:ext cx="2103120" cy="40005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88920" y="4446270"/>
            <a:ext cx="8641080" cy="40005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registra a conclusão e recalcula o percentual com base nas etapas concluídas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aceite não é intenção genérica. Ele precisa permitir uma decisão binária: passou ou não passou.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EM ABERTO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7594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agente não deve preencher lacunas silenciosamente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799" y="1508760"/>
            <a:ext cx="10217331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baseline não define um detalhe necessário, a Spec deve registrar OPEN-XX.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abertas não bloqueiam sempre a aula; elas tornam explícito o que exige decisão humana.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implementação não deve converter hipótese do agente em decisão arquitetural.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3840480" cy="43434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OPEN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26280" y="3429000"/>
            <a:ext cx="6812280" cy="43434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863340"/>
            <a:ext cx="3840480" cy="43434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OPEN-01 - SGBD ainda não definido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3863340"/>
            <a:ext cx="6812280" cy="43434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87313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conceitual não é modelo físico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297680"/>
            <a:ext cx="3840480" cy="43434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OPEN-02 - mecanismo de sessão ou JWT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4297680"/>
            <a:ext cx="6812280" cy="43434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87313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ADR registra autorização na API, mas não escolhe o protocolo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732020"/>
            <a:ext cx="3840480" cy="43434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OPEN-03 - fila para LLM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4732020"/>
            <a:ext cx="6812280" cy="43434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87313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 permite evolução posterior, mas não exige fila inicial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1440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Separar criação da Spec e geração de código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224028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mapa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propõe a decomposição e para.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63240" y="2212848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7" name="Text 5"/>
          <p:cNvSpPr/>
          <p:nvPr/>
        </p:nvSpPr>
        <p:spPr>
          <a:xfrm>
            <a:off x="3749040" y="1645920"/>
            <a:ext cx="224028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ajusta ordem, escopo e decisões abertas.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80760" y="2212848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9" name="Text 7"/>
          <p:cNvSpPr/>
          <p:nvPr/>
        </p:nvSpPr>
        <p:spPr>
          <a:xfrm>
            <a:off x="6766560" y="1645920"/>
            <a:ext cx="224028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uma Spec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produz somente a Spec solicitada.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98280" y="2212848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1" name="Text 9"/>
          <p:cNvSpPr/>
          <p:nvPr/>
        </p:nvSpPr>
        <p:spPr>
          <a:xfrm>
            <a:off x="9784080" y="1645920"/>
            <a:ext cx="164592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código segue a Spec aprovada.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10561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recomendação prática para o laboratório é usar um novo contexto do agente para a implementação, fornecendo a Spec aprovada como contrato de trabalho.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800600"/>
            <a:ext cx="10561320" cy="1252728"/>
          </a:xfrm>
          <a:prstGeom prst="rect">
            <a:avLst/>
          </a:prstGeom>
          <a:solidFill>
            <a:srgbClr val="E8F0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</a:t>
            </a:r>
            <a:r>
              <a:rPr lang="en-US" sz="1600" b="1" dirty="0" err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1600" b="1" dirty="0">
              <a:solidFill>
                <a:srgbClr val="1F29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Conflitos entre código, Spec e baseline devem ser registrados. A correção ou alteração da baseline exige decisão humana.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NO USO DE AGENTES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segurança entra na aula de SDD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39378"/>
            <a:ext cx="101498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 limita o comportamento esperado; a governança técnica limita ações perigosas do agente.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108960" cy="132588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contexto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recebe muitos documentos e prioriza partes diferentes conforme a conversa.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26280" y="1920240"/>
            <a:ext cx="3108960" cy="132588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ação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pode rodar comando, editar arquivo ou chamar ferramenta externa.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66760" y="1920240"/>
            <a:ext cx="3108960" cy="132588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revisão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resultado parece coerente, mas viola contrato, regra ou decisão arquitetural.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106070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organiza a intenção e a verificação.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e gates reduzem risco operacional durante a execução.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 práticas se complementam; nenhuma substitui revisão humana.</a:t>
            </a:r>
            <a:endParaRPr lang="en-US" sz="16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INSTRUÇÃO E BLOQUEIO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79" y="804672"/>
            <a:ext cx="11048695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Arquivo de regras não equivale a mecanismo de segurança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920240" cy="48463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1508760"/>
            <a:ext cx="4389120" cy="48463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de instrução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0" y="1508760"/>
            <a:ext cx="4572000" cy="48463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de agente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192024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atua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1993392"/>
            <a:ext cx="438912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do contexto do modelo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0" y="1993392"/>
            <a:ext cx="457200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modelo, antes da ação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478024"/>
            <a:ext cx="192024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Natureza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478024"/>
            <a:ext cx="438912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Probabilística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478024"/>
            <a:ext cx="457200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Determinística quando a IDE/agente suporta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962656"/>
            <a:ext cx="192024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2962656"/>
            <a:ext cx="438912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de contexto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0" y="2962656"/>
            <a:ext cx="457200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Milissegundos de CPU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447288"/>
            <a:ext cx="192024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0" y="3447288"/>
            <a:ext cx="438912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Orientar proposta do agente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3447288"/>
            <a:ext cx="457200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Bloquear, confirmar ou liberar ações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10515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instrução melhora o comportamento esperado. O hook estabelece um piso de segurança para as ferramentas que consegue interceptar.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VS Code, essa distinção é central: o editor não oferece, por si só, a mesma interceptação de ferramentas disponível em Cursor ou Claude Code.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Ciclo de vida de uma ação interceptada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69164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aluno pede uma ação ao agente.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04872" y="2578608"/>
            <a:ext cx="310896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7" name="Text 5"/>
          <p:cNvSpPr/>
          <p:nvPr/>
        </p:nvSpPr>
        <p:spPr>
          <a:xfrm>
            <a:off x="2788920" y="1828800"/>
            <a:ext cx="169164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decide executar shell, leitura, edição ou MCP.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07992" y="2578608"/>
            <a:ext cx="310896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169164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programa externo recebe o payload da ação.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11112" y="2578608"/>
            <a:ext cx="310896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1" name="Text 9"/>
          <p:cNvSpPr/>
          <p:nvPr/>
        </p:nvSpPr>
        <p:spPr>
          <a:xfrm>
            <a:off x="6995160" y="1828800"/>
            <a:ext cx="169164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Veredito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allow, ask ou deny.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14232" y="2578608"/>
            <a:ext cx="310896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3" name="Text 11"/>
          <p:cNvSpPr/>
          <p:nvPr/>
        </p:nvSpPr>
        <p:spPr>
          <a:xfrm>
            <a:off x="9098279" y="1828800"/>
            <a:ext cx="1944189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ação executa, pede confirmação ou é bloqueada.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251960"/>
            <a:ext cx="10515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motivo do bloqueio deve voltar ao agente. Assim, ele tende a buscar um caminho aceitável em vez de repetir a ação negada.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DECISÃO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8435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vereditos para autonomia controlada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154680" cy="1325880"/>
          </a:xfrm>
          <a:prstGeom prst="rect">
            <a:avLst/>
          </a:prstGeom>
          <a:solidFill>
            <a:srgbClr val="EAF6E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de leitura, análise e verificação. Ex.: testes, lint, status do Git.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26280" y="1554480"/>
            <a:ext cx="3154680" cy="1325880"/>
          </a:xfrm>
          <a:prstGeom prst="rect">
            <a:avLst/>
          </a:prstGeom>
          <a:solidFill>
            <a:srgbClr val="FFF6D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legítimas com custo de reversão. Ex.: commit, push, migration.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1554480"/>
            <a:ext cx="3154680" cy="1325880"/>
          </a:xfrm>
          <a:prstGeom prst="rect">
            <a:avLst/>
          </a:prstGeom>
          <a:solidFill>
            <a:srgbClr val="FCEBE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destrutivas ou exposição de segredo. Ex.: DROP, truncate, .env, push force.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4023360" cy="338328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3657600"/>
            <a:ext cx="1828800" cy="338328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3657600"/>
            <a:ext cx="4754880" cy="338328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95928"/>
            <a:ext cx="402336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995928"/>
            <a:ext cx="182880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995928"/>
            <a:ext cx="475488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dependências a partir do lockfile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334256"/>
            <a:ext cx="402336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pacote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4334256"/>
            <a:ext cx="182880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4334256"/>
            <a:ext cx="475488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 dependências do projeto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672584"/>
            <a:ext cx="402336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.env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4672584"/>
            <a:ext cx="182880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4672584"/>
            <a:ext cx="475488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Expõe segredo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5010912"/>
            <a:ext cx="402336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TABLE users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5010912"/>
            <a:ext cx="182880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5010912"/>
            <a:ext cx="475488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Destrói estrutura de dados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POR AMBIENTE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caso específico do VS Code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214884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51760" y="1783080"/>
            <a:ext cx="150876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60520" y="1783080"/>
            <a:ext cx="164592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06440" y="1783080"/>
            <a:ext cx="297180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com agente que possui hook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78240" y="1783080"/>
            <a:ext cx="292608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com Copilot/agente sem hook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308860"/>
            <a:ext cx="21488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Bloquear shell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308860"/>
            <a:ext cx="150876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60520" y="2308860"/>
            <a:ext cx="164592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06440" y="2308860"/>
            <a:ext cx="29718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78240" y="2308860"/>
            <a:ext cx="292608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Confirmação manual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2834640"/>
            <a:ext cx="21488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Bloquear leitura de segredo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150876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60520" y="2834640"/>
            <a:ext cx="164592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06440" y="2834640"/>
            <a:ext cx="29718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0" y="2834640"/>
            <a:ext cx="292608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3360420"/>
            <a:ext cx="21488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Bloquear edição de arquivo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51760" y="3360420"/>
            <a:ext cx="150876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Limitado: pós-edição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60520" y="3360420"/>
            <a:ext cx="164592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06440" y="3360420"/>
            <a:ext cx="29718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Sim, pelo agente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78240" y="3360420"/>
            <a:ext cx="292608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3886200"/>
            <a:ext cx="21488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Bloquear MCP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51760" y="3886200"/>
            <a:ext cx="150876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60520" y="3886200"/>
            <a:ext cx="164592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06440" y="3886200"/>
            <a:ext cx="29718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78240" y="3886200"/>
            <a:ext cx="292608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" y="4411980"/>
            <a:ext cx="21488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Reforço por Git hook e CI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651760" y="4411980"/>
            <a:ext cx="150876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160520" y="4411980"/>
            <a:ext cx="164592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06440" y="4411980"/>
            <a:ext cx="29718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78240" y="4411980"/>
            <a:ext cx="292608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Obrigatório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4360" y="525780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VS Code, quem define a existência de hook é o agente executado dentro do ambiente, não o editor em si.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DEFESA EM CAMADAS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24563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Governança não deve depender de uma única barreira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331720" cy="1536192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Instrução no repositório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 o agente antes de propor a ação.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54680" y="2331720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7" name="Text 5"/>
          <p:cNvSpPr/>
          <p:nvPr/>
        </p:nvSpPr>
        <p:spPr>
          <a:xfrm>
            <a:off x="3840480" y="1691640"/>
            <a:ext cx="2331720" cy="1536192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de agente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Intercepta ação quando houver suporte da ferramenta.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2331720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9" name="Text 7"/>
          <p:cNvSpPr/>
          <p:nvPr/>
        </p:nvSpPr>
        <p:spPr>
          <a:xfrm>
            <a:off x="6949440" y="1691640"/>
            <a:ext cx="2331720" cy="1536192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hook local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 antes do commit.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72600" y="2331720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1" name="Text 9"/>
          <p:cNvSpPr/>
          <p:nvPr/>
        </p:nvSpPr>
        <p:spPr>
          <a:xfrm>
            <a:off x="10058400" y="1691640"/>
            <a:ext cx="1600200" cy="1536192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e revisão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 antes do merge.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107899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alunos em VS Code sem hook de ferramenta, a camada 3 e a camada 4 se tornam obrigatórias.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perigosos, leitura de segredos e alterações em dependências devem ter política explícita.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deve testar a política antes de confiar nela.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TEÓRICA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2717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os alunos devem reter antes do laboratório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43200" cy="49530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29000" y="1417320"/>
            <a:ext cx="8046720" cy="49530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12620"/>
            <a:ext cx="274320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1912620"/>
            <a:ext cx="804672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artefatos de modelagem governam a criação das Specs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407920"/>
            <a:ext cx="274320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Specs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2407920"/>
            <a:ext cx="804672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a implementação antes de gerar código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03220"/>
            <a:ext cx="274320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aprovada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903220"/>
            <a:ext cx="804672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 comportamento em contrato verificável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398520"/>
            <a:ext cx="274320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3398520"/>
            <a:ext cx="804672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Rules/skills e MCP entram via harness; hooks, Git e CI continuam fora do modelo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893820"/>
            <a:ext cx="274320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humana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3893820"/>
            <a:ext cx="804672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lacunas, conflitos e alterações da baseline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800600"/>
            <a:ext cx="10607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próxima aula transforma esses conceitos em procedimento executável no projeto dos alunos.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prático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79" y="1265355"/>
            <a:ext cx="11142617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grupo aplicará o fluxo SDD ao seu próprio projeto, usando os artefatos de modelagem já construídos.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383280" cy="123444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com artefatos de modelagem, README e decisões já registradas.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4840" y="1828800"/>
            <a:ext cx="3383280" cy="123444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gera mapa de Specs; grupo revisa; agente gera uma Spec individual.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38160" y="1828800"/>
            <a:ext cx="3383280" cy="123444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revisado, uma Spec aprovada e registro de questões em aberto.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106070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implementação pode começar no laboratório somente depois da aprovação da Spec escolhida.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uso de VS Code exige confirmar quais camadas de segurança estão efetivamente ativas.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· PARTE 1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Preparar a baseline do projeto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65760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3400" y="1417320"/>
            <a:ext cx="717804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esperada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43100"/>
            <a:ext cx="36576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artefatos de modelagem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943100"/>
            <a:ext cx="71780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localizados e legíveis no repositório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6576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decisões já tomadas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468880"/>
            <a:ext cx="71780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ADR, drivers ou registro equivalente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94660"/>
            <a:ext cx="36576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decisões ausentes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2994660"/>
            <a:ext cx="71780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inicial de possíveis OPEN-XX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36576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instrução do agente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3520440"/>
            <a:ext cx="71780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de instruções no repositório, conforme a ferramenta adotada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046220"/>
            <a:ext cx="36576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camadas de segurança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4046220"/>
            <a:ext cx="71780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 do ambiente: Cursor, Claude Code, VS Code A ou VS Code 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983480"/>
            <a:ext cx="10515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atividade começa por leitura e organização. Sem baseline clara, a Spec tende a virar uma reescrita improvisada do projeto.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· PARTE 2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79" y="804672"/>
            <a:ext cx="10384971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Gerar o mapa de Specs com prompt padronizado</a:t>
            </a:r>
            <a:endParaRPr lang="en-US" sz="28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685800" y="21488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244C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PDF: Prompt_SDD_Specs.pdf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5349240" cy="39319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deve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35040" y="2880360"/>
            <a:ext cx="5394960" cy="39319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não deve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53492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a baseline antes da decomposição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0" y="3273552"/>
            <a:ext cx="539496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código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666744"/>
            <a:ext cx="53492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Agrupar comportamentos por capacidade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3666744"/>
            <a:ext cx="539496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cada RF em uma Spec automaticamente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059936"/>
            <a:ext cx="53492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RF, RB, RNF, UC, entidades, drivers e ADRs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4059936"/>
            <a:ext cx="539496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tecnologias ainda não decididas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453128"/>
            <a:ext cx="53492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Parar após o mapa de Specs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4453128"/>
            <a:ext cx="539496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Produzir todas as Specs sem revisão humana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· PARTE 3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Revisar o mapa e aprovar uma Spec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2214154"/>
            <a:ext cx="58064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se cada Spec entrega comportamento observável ou uma fundação técnica necessária.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dependências: uma Spec não deve exigir comportamento ainda inexistente.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Specs excessivamente amplas ou puramente técnicas sem valor verificável.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OPEN-XX para decisões não tomadas.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Selecionar uma Spec viável para implementação inicial.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90805" y="1554480"/>
            <a:ext cx="4697969" cy="187452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de revisão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Spec é pequena? É verificável? Tem rastreabilidade? Preserva as regras de negócio? Depende de decisão ausente?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90805" y="3840480"/>
            <a:ext cx="4697969" cy="1051560"/>
          </a:xfrm>
          <a:prstGeom prst="rect">
            <a:avLst/>
          </a:prstGeom>
          <a:solidFill>
            <a:srgbClr val="E8F0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da etapa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Spec aprovada para implementação e um mapa ajustado pelo grupo.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· PARTE 4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Implementar a Spec com controle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79"/>
            <a:ext cx="2331720" cy="1746069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contexto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Forneça ao agente somente a Spec aprovada e instruções do projeto.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54680" y="2212848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7" name="Text 5"/>
          <p:cNvSpPr/>
          <p:nvPr/>
        </p:nvSpPr>
        <p:spPr>
          <a:xfrm>
            <a:off x="3840480" y="1554479"/>
            <a:ext cx="2331720" cy="1746069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 implementação mínima para atender aos critérios de aceite.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2212848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9" name="Text 7"/>
          <p:cNvSpPr/>
          <p:nvPr/>
        </p:nvSpPr>
        <p:spPr>
          <a:xfrm>
            <a:off x="6949440" y="1554479"/>
            <a:ext cx="2331720" cy="1746069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os testes e verifique invariantes e RNFs aplicáveis.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72600" y="2212848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1" name="Text 9"/>
          <p:cNvSpPr/>
          <p:nvPr/>
        </p:nvSpPr>
        <p:spPr>
          <a:xfrm>
            <a:off x="10058400" y="1554479"/>
            <a:ext cx="1600200" cy="1746069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Anote divergências e decisões pendentes.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19"/>
            <a:ext cx="3840480" cy="42146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a implementação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703319"/>
            <a:ext cx="6766560" cy="42146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esperada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59"/>
            <a:ext cx="384048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código viola a Spec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4023359"/>
            <a:ext cx="676656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Corrigir a implementação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343399"/>
            <a:ext cx="384048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 parece errada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4343399"/>
            <a:ext cx="676656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 alteração da baseline para aprovação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39"/>
            <a:ext cx="384048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decisão técnica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663439"/>
            <a:ext cx="676656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OPEN-XX ou consultar o professor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983479"/>
            <a:ext cx="384048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perigosa do agente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4983479"/>
            <a:ext cx="676656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Interromper ou exigir confirmação conforme a camada de segurança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DO LABORATÓRIO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do grupo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657600" cy="483326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3400" y="1417320"/>
            <a:ext cx="1554480" cy="483326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Obrigatório?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97880" y="1417320"/>
            <a:ext cx="5623560" cy="483326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900646"/>
            <a:ext cx="365760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Specs gerado e revisado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0" y="1900646"/>
            <a:ext cx="155448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97880" y="1900646"/>
            <a:ext cx="562356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versionado no repositório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383971"/>
            <a:ext cx="365760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Spec individual aprovada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2383971"/>
            <a:ext cx="155448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97880" y="2383971"/>
            <a:ext cx="562356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com rastreabilidade e critérios de aceite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2867297"/>
            <a:ext cx="365760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OPEN-XX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43400" y="2867297"/>
            <a:ext cx="155448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Sim, se houver lacunas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97880" y="2867297"/>
            <a:ext cx="562356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em aberto explícitas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350623"/>
            <a:ext cx="365760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 de segurança descrita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43400" y="3350623"/>
            <a:ext cx="155448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97880" y="3350623"/>
            <a:ext cx="562356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usada e camadas ativas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833949"/>
            <a:ext cx="365760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inicial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43400" y="3833949"/>
            <a:ext cx="155448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tempo de aula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97880" y="3833949"/>
            <a:ext cx="562356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associado a uma Spec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317274"/>
            <a:ext cx="365760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ou verificação manual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4317274"/>
            <a:ext cx="155448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97880" y="4317274"/>
            <a:ext cx="562356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documentado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5166360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critério de entrega avalia a qualidade do processo, não somente a quantidade de código produzido.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1">
                <a:solidFill>
                  <a:srgbClr val="D1505B"/>
                </a:solidFill>
                <a:latin typeface="Arial"/>
              </a:rPr>
              <a:t>FERRAMENTAS DO AGENTE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2800" b="1">
                <a:solidFill>
                  <a:srgbClr val="1F2933"/>
                </a:solidFill>
                <a:latin typeface="Georgia"/>
              </a:rPr>
              <a:t>O que é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0000"/>
            <a:ext cx="10800000" cy="3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5B6673"/>
                </a:solidFill>
                <a:latin typeface="Arial"/>
              </a:rPr>
              <a:t>MCP (Model Context Protocol) é um padrão aberto para o agente usar ferramentas externas — banco, GitHub, S3, SSH — sem colocar senha no prompt.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000"/>
            <a:ext cx="3444240" cy="20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O que conecta
</a:t>
            </a:r>
            <a:r>
              <a:rPr sz="1200" b="0">
                <a:solidFill>
                  <a:srgbClr val="2B3440"/>
                </a:solidFill>
                <a:latin typeface="Arial"/>
              </a:rPr>
              <a:t>O modelo de linguagem não acessa MySQL ou S3 sozinho. Um servidor MCP expõe ferramentas que o harness pode chamar.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600000"/>
            <a:ext cx="3444240" cy="20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O que não é
</a:t>
            </a:r>
            <a:r>
              <a:rPr sz="1200" b="0">
                <a:solidFill>
                  <a:srgbClr val="2B3440"/>
                </a:solidFill>
                <a:latin typeface="Arial"/>
              </a:rPr>
              <a:t>Não é a Spec, não é rule e não é o harness. É só o plugue de ferramentas externas.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48600" y="1600000"/>
            <a:ext cx="3444240" cy="20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Como o aluno usa
</a:t>
            </a:r>
            <a:r>
              <a:rPr sz="1200" b="0">
                <a:solidFill>
                  <a:srgbClr val="2B3440"/>
                </a:solidFill>
                <a:latin typeface="Arial"/>
              </a:rPr>
              <a:t>Arquivos no repositório descrevem os servidores. A IDE sobe os processos ao abrir o projeto.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00000"/>
            <a:ext cx="10800000" cy="4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D1505B"/>
                </a:solidFill>
                <a:latin typeface="Arial"/>
              </a:rPr>
              <a:t>• </a:t>
            </a:r>
            <a:r>
              <a:rPr sz="1400" b="0">
                <a:solidFill>
                  <a:srgbClr val="2B3440"/>
                </a:solidFill>
                <a:latin typeface="Arial"/>
              </a:rPr>
              <a:t>Sem MCP, o agente só vê o que está no chat e nos arquivos do workspace.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1">
                <a:solidFill>
                  <a:srgbClr val="D1505B"/>
                </a:solidFill>
                <a:latin typeface="Arial"/>
              </a:rPr>
              <a:t>DOIS ARQUIVOS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2800" b="1">
                <a:solidFill>
                  <a:srgbClr val="1F2933"/>
                </a:solidFill>
                <a:latin typeface="Georgia"/>
              </a:rPr>
              <a:t>mcp.json descreve ferramentas; mcp.env guarda valores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50000"/>
            <a:ext cx="2600000" cy="70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Arquivo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80" y="1250000"/>
            <a:ext cx="5200000" cy="70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Função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8440080" y="1250000"/>
            <a:ext cx="3000000" cy="70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Vai para o Git?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50000"/>
            <a:ext cx="26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mcp.json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80" y="1950000"/>
            <a:ext cx="52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200" b="0">
                <a:solidFill>
                  <a:srgbClr val="2B3440"/>
                </a:solidFill>
                <a:latin typeface="Arial"/>
              </a:rPr>
              <a:t>Quais servidores existem, comando e nomes das variáveis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0080" y="1950000"/>
            <a:ext cx="30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Sim — sem senha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50000"/>
            <a:ext cx="26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mcp.env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80" y="2650000"/>
            <a:ext cx="52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200" b="0">
                <a:solidFill>
                  <a:srgbClr val="2B3440"/>
                </a:solidFill>
                <a:latin typeface="Arial"/>
              </a:rPr>
              <a:t>Host, usuário, senha, chave (placeholders no modelo)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0080" y="2650000"/>
            <a:ext cx="30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Só com sua-senha / seu-host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00000"/>
            <a:ext cx="10800000" cy="4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D1505B"/>
                </a:solidFill>
                <a:latin typeface="Arial"/>
              </a:rPr>
              <a:t>• </a:t>
            </a:r>
            <a:r>
              <a:rPr sz="1400" b="0">
                <a:solidFill>
                  <a:srgbClr val="2B3440"/>
                </a:solidFill>
                <a:latin typeface="Arial"/>
              </a:rPr>
              <a:t>Na aula o modelo usa sua-senha, seu-host e sua-chave. Nunca coloque senha real no json.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1">
                <a:solidFill>
                  <a:srgbClr val="D1505B"/>
                </a:solidFill>
                <a:latin typeface="Arial"/>
              </a:rPr>
              <a:t>TRÊS 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2800" b="1">
                <a:solidFill>
                  <a:srgbClr val="1F2933"/>
                </a:solidFill>
                <a:latin typeface="Georgia"/>
              </a:rPr>
              <a:t>Como ligar mcp.json e mcp.env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0000"/>
            <a:ext cx="2400000" cy="7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2920" y="1250000"/>
            <a:ext cx="4000000" cy="7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Arquivos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2920" y="1250000"/>
            <a:ext cx="4200000" cy="7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Como json e env se ligam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30000"/>
            <a:ext cx="24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Cursor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2920" y="2030000"/>
            <a:ext cx="40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.cursor/mcp.json e .cursor/mcp.env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2920" y="2030000"/>
            <a:ext cx="42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envFile + ${env:MYSQL_HOST}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0000"/>
            <a:ext cx="24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Claude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2920" y="2810000"/>
            <a:ext cx="40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.mcp.json na raiz e .claude/mcp.env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2920" y="2810000"/>
            <a:ext cx="42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200" b="0">
                <a:solidFill>
                  <a:srgbClr val="2B3440"/>
                </a:solidFill>
                <a:latin typeface="Arial"/>
              </a:rPr>
              <a:t>${MYSQL_HOST} no ambiente (não lê o .env sozinho)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90000"/>
            <a:ext cx="24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VS Code + Copilot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02920" y="3590000"/>
            <a:ext cx="40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200" b="0">
                <a:solidFill>
                  <a:srgbClr val="2B3440"/>
                </a:solidFill>
                <a:latin typeface="Arial"/>
              </a:rPr>
              <a:t>.vscode/mcp.json (chave servers) e .vscode/mcp.env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2920" y="3590000"/>
            <a:ext cx="42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envFile + ${env:MYSQL_HOST}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00000"/>
            <a:ext cx="10800000" cy="4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D1505B"/>
                </a:solidFill>
                <a:latin typeface="Arial"/>
              </a:rPr>
              <a:t>• </a:t>
            </a:r>
            <a:r>
              <a:rPr sz="1400" b="0">
                <a:solidFill>
                  <a:srgbClr val="2B3440"/>
                </a:solidFill>
                <a:latin typeface="Arial"/>
              </a:rPr>
              <a:t>O json lista ferramentas; o env preenche valores. Os nomes das variáveis têm de coincidir.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23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1">
                <a:solidFill>
                  <a:srgbClr val="D1505B"/>
                </a:solidFill>
                <a:latin typeface="Arial"/>
              </a:rPr>
              <a:t>INSTRUÇÃO DO AGENTE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2800" b="1">
                <a:solidFill>
                  <a:srgbClr val="1F2933"/>
                </a:solidFill>
                <a:latin typeface="Georgia"/>
              </a:rPr>
              <a:t>Rule é regulamento; skill é roteiro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0000"/>
            <a:ext cx="10800000" cy="3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5B6673"/>
                </a:solidFill>
                <a:latin typeface="Arial"/>
              </a:rPr>
              <a:t>Rule: “neste projeto, faça assim”. Skill: “quando for fazer X, siga estes passos”.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0000"/>
            <a:ext cx="2000000" cy="5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Critério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502920" y="1550000"/>
            <a:ext cx="4600000" cy="5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Rule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02920" y="1550000"/>
            <a:ext cx="4000000" cy="5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Skill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30000"/>
            <a:ext cx="2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O que 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02920" y="2130000"/>
            <a:ext cx="46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Convenção permanente do projeto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02920" y="2130000"/>
            <a:ext cx="4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Procedimento de uma tarefa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10000"/>
            <a:ext cx="2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Quando entra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2920" y="2710000"/>
            <a:ext cx="46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200" b="0">
                <a:solidFill>
                  <a:srgbClr val="2B3440"/>
                </a:solidFill>
                <a:latin typeface="Arial"/>
              </a:rPr>
              <a:t>Sempre, por pasta (glob/paths) ou por descrição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02920" y="2710000"/>
            <a:ext cx="4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Sob demanda, ou chamada pelo nome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90000"/>
            <a:ext cx="2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Tamanho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02920" y="3290000"/>
            <a:ext cx="46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Curta: padrões e restrições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02920" y="3290000"/>
            <a:ext cx="4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Pode ser longa: fluxo, exemplos, scripts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70000"/>
            <a:ext cx="2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Analogia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02920" y="3870000"/>
            <a:ext cx="46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Regulamento da disciplina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02920" y="3870000"/>
            <a:ext cx="4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Roteiro de um laboratório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1">
                <a:solidFill>
                  <a:srgbClr val="D1505B"/>
                </a:solidFill>
                <a:latin typeface="Arial"/>
              </a:rPr>
              <a:t>CURSOR E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2800" b="1">
                <a:solidFill>
                  <a:srgbClr val="1F2933"/>
                </a:solidFill>
                <a:latin typeface="Georgia"/>
              </a:rPr>
              <a:t>Os dois papéis existem; as pastas mudam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0000"/>
            <a:ext cx="2800000" cy="6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Papel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2920" y="1250000"/>
            <a:ext cx="4000000" cy="6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Cursor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02920" y="1250000"/>
            <a:ext cx="3800000" cy="6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Claude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30000"/>
            <a:ext cx="2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Manual sempre ligado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2920" y="1930000"/>
            <a:ext cx="40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Rule alwaysApply ou AGENTS.md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02920" y="1930000"/>
            <a:ext cx="3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.claude/CLAUDE.md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10000"/>
            <a:ext cx="2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Rule (convenção)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2920" y="2610000"/>
            <a:ext cx="40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.cursor/rules/*.mdc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02920" y="2610000"/>
            <a:ext cx="3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.claude/rules/*.md (paths:)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0000"/>
            <a:ext cx="2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Skill (roteiro)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02920" y="3290000"/>
            <a:ext cx="40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.cursor/skills/&lt;nome&gt;/SKILL.md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2920" y="3290000"/>
            <a:ext cx="3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.claude/skills/&lt;nome&gt;/SKILL.md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70000"/>
            <a:ext cx="2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MCP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2920" y="3970000"/>
            <a:ext cx="40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.cursor/mcp.json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02920" y="3970000"/>
            <a:ext cx="3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.mcp.json na raiz do projeto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00000"/>
            <a:ext cx="10800000" cy="4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D1505B"/>
                </a:solidFill>
                <a:latin typeface="Arial"/>
              </a:rPr>
              <a:t>• </a:t>
            </a:r>
            <a:r>
              <a:rPr sz="1400" b="0">
                <a:solidFill>
                  <a:srgbClr val="2B3440"/>
                </a:solidFill>
                <a:latin typeface="Arial"/>
              </a:rPr>
              <a:t>No Cursor, os 7 papéis estão em rules com alwaysApply: false. No Claude Code o equivalente é skill.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25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1">
                <a:solidFill>
                  <a:srgbClr val="D1505B"/>
                </a:solidFill>
                <a:latin typeface="Arial"/>
              </a:rPr>
              <a:t>VS CODE +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2800" b="1">
                <a:solidFill>
                  <a:srgbClr val="1F2933"/>
                </a:solidFill>
                <a:latin typeface="Georgia"/>
              </a:rPr>
              <a:t>Funciona de outro jeito — use o modelo no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0000"/>
            <a:ext cx="10800000" cy="3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5B6673"/>
                </a:solidFill>
                <a:latin typeface="Arial"/>
              </a:rPr>
              <a:t>O Copilot não cabe só em .vscode. MCP fica ali; o manual e as rules ficam em .github/.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0000"/>
            <a:ext cx="3600000" cy="56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Papel no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40080" y="1550000"/>
            <a:ext cx="7000000" cy="56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Onde configurar no EstudaAI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10000"/>
            <a:ext cx="36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Manual sempre ligado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0080" y="2110000"/>
            <a:ext cx="70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2B3440"/>
                </a:solidFill>
                <a:latin typeface="Arial"/>
              </a:rPr>
              <a:t>.github/copilot-instructions.md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70000"/>
            <a:ext cx="36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Rule por pasta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0080" y="2670000"/>
            <a:ext cx="70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200" b="0">
                <a:solidFill>
                  <a:srgbClr val="2B3440"/>
                </a:solidFill>
                <a:latin typeface="Arial"/>
              </a:rPr>
              <a:t>.github/instructions/*.instructions.md (applyTo)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30000"/>
            <a:ext cx="36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Skills do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0080" y="3230000"/>
            <a:ext cx="70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200" b="0">
                <a:solidFill>
                  <a:srgbClr val="2B3440"/>
                </a:solidFill>
                <a:latin typeface="Arial"/>
              </a:rPr>
              <a:t>O Copilot já lê .claude/skills/ (não duplicar)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90000"/>
            <a:ext cx="36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MCP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0080" y="3790000"/>
            <a:ext cx="70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200" b="0">
                <a:solidFill>
                  <a:srgbClr val="2B3440"/>
                </a:solidFill>
                <a:latin typeface="Arial"/>
              </a:rPr>
              <a:t>.vscode/mcp.json (chave servers) + .vscode/mcp.env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00000"/>
            <a:ext cx="10800000" cy="4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D1505B"/>
                </a:solidFill>
                <a:latin typeface="Arial"/>
              </a:rPr>
              <a:t>• </a:t>
            </a:r>
            <a:r>
              <a:rPr sz="1400" b="0">
                <a:solidFill>
                  <a:srgbClr val="2B3440"/>
                </a:solidFill>
                <a:latin typeface="Arial"/>
              </a:rPr>
              <a:t>Baixe o modelo no repositório GitHub do EstudaAI: pastas .vscode, .github, .cursor e .claude. Comece por .vscode/COPILOT.md.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650" b="1">
                <a:solidFill>
                  <a:srgbClr val="D1505B"/>
                </a:solidFill>
                <a:latin typeface="Arial"/>
              </a:rPr>
              <a:t>RUNTIME DO AGENTE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2800" b="1">
                <a:solidFill>
                  <a:srgbClr val="1F2933"/>
                </a:solidFill>
                <a:latin typeface="Georgia"/>
              </a:rPr>
              <a:t>O harness é quem lê esses arquivos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0000"/>
            <a:ext cx="10800000" cy="3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0">
                <a:solidFill>
                  <a:srgbClr val="5B6673"/>
                </a:solidFill>
                <a:latin typeface="Arial"/>
              </a:rPr>
              <a:t>Harness (ambiente de execução) envolve o modelo. Não é o LLM. É o Cursor, o Claude Code ou o Agent Host do VS Code/Copilot.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0000"/>
            <a:ext cx="2625000" cy="22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Carrega contexto
</a:t>
            </a:r>
            <a:r>
              <a:rPr sz="1200" b="0">
                <a:solidFill>
                  <a:srgbClr val="2B3440"/>
                </a:solidFill>
                <a:latin typeface="Arial"/>
              </a:rPr>
              <a:t>Injeta CLAUDE.md, copilot-instructions e rules no início da sessão — ou quando a pasta casa com glob/paths.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5080" y="1550000"/>
            <a:ext cx="2625000" cy="22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Descobre skills
</a:t>
            </a:r>
            <a:r>
              <a:rPr sz="1200" b="0">
                <a:solidFill>
                  <a:srgbClr val="2B3440"/>
                </a:solidFill>
                <a:latin typeface="Arial"/>
              </a:rPr>
              <a:t>Só o índice (name + description) fica sempre visível. O corpo do SKILL.md entra quando a tarefa combina.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080" y="1550000"/>
            <a:ext cx="2625000" cy="22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Sobe o MCP
</a:t>
            </a:r>
            <a:r>
              <a:rPr sz="1200" b="0">
                <a:solidFill>
                  <a:srgbClr val="2B3440"/>
                </a:solidFill>
                <a:latin typeface="Arial"/>
              </a:rPr>
              <a:t>Lê mcp.json, interpola variáveis, inicia os servidores e decide se pede confiança ao aluno.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815080" y="1550000"/>
            <a:ext cx="2625000" cy="22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1F2933"/>
                </a:solidFill>
                <a:latin typeface="Arial"/>
              </a:rPr>
              <a:t>Intercepta ferramentas
</a:t>
            </a:r>
            <a:r>
              <a:rPr sz="1200" b="0">
                <a:solidFill>
                  <a:srgbClr val="2B3440"/>
                </a:solidFill>
                <a:latin typeface="Arial"/>
              </a:rPr>
              <a:t>Hooks, confirmação e trust atuam fora do modelo. Por isso rule não substitui gate de segurança.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00000"/>
            <a:ext cx="10800000" cy="4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/>
          <a:lstStyle/>
          <a:p>
            <a:pPr algn="ctr"/>
            <a:r>
              <a:rPr sz="1400" b="1">
                <a:solidFill>
                  <a:srgbClr val="D1505B"/>
                </a:solidFill>
                <a:latin typeface="Arial"/>
              </a:rPr>
              <a:t>• </a:t>
            </a:r>
            <a:r>
              <a:rPr sz="1400" b="0">
                <a:solidFill>
                  <a:srgbClr val="2B3440"/>
                </a:solidFill>
                <a:latin typeface="Arial"/>
              </a:rPr>
              <a:t>Harnesses diferentes leem pastas diferentes. A Spec continua mandando no comportamento; o harness só decide o que o modelo enxerga e o que pode executar.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3325</Words>
  <Application>Microsoft Office PowerPoint</Application>
  <PresentationFormat>Widescreen</PresentationFormat>
  <Paragraphs>455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9" baseType="lpstr">
      <vt:lpstr>Arial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Engenharia da Computação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Spec-Driven Development</dc:title>
  <dc:subject>Modelagem de Software - Semana 6</dc:subject>
  <dc:creator>Prof. Nilton Canto</dc:creator>
  <cp:lastModifiedBy>Nilton Furtado Canto</cp:lastModifiedBy>
  <cp:revision>3</cp:revision>
  <dcterms:created xsi:type="dcterms:W3CDTF">2026-09-15T16:34:36Z</dcterms:created>
  <dcterms:modified xsi:type="dcterms:W3CDTF">2026-09-16T01:03:21Z</dcterms:modified>
</cp:coreProperties>
</file>